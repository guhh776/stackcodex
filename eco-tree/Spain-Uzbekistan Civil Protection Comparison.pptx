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image" Target="../media/image-9-36.png"/><Relationship Id="rId37" Type="http://schemas.openxmlformats.org/officeDocument/2006/relationships/image" Target="../media/image-9-37.png"/><Relationship Id="rId38" Type="http://schemas.openxmlformats.org/officeDocument/2006/relationships/image" Target="../media/image-9-38.png"/><Relationship Id="rId39" Type="http://schemas.openxmlformats.org/officeDocument/2006/relationships/image" Target="../media/image-9-39.png"/><Relationship Id="rId40" Type="http://schemas.openxmlformats.org/officeDocument/2006/relationships/image" Target="../media/image-9-40.png"/><Relationship Id="rId41" Type="http://schemas.openxmlformats.org/officeDocument/2006/relationships/image" Target="../media/image-9-41.png"/><Relationship Id="rId42" Type="http://schemas.openxmlformats.org/officeDocument/2006/relationships/image" Target="../media/image-9-42.png"/><Relationship Id="rId43" Type="http://schemas.openxmlformats.org/officeDocument/2006/relationships/image" Target="../media/image-9-43.png"/><Relationship Id="rId44" Type="http://schemas.openxmlformats.org/officeDocument/2006/relationships/image" Target="../media/image-9-44.png"/><Relationship Id="rId45" Type="http://schemas.openxmlformats.org/officeDocument/2006/relationships/image" Target="../media/image-9-45.png"/><Relationship Id="rId46" Type="http://schemas.openxmlformats.org/officeDocument/2006/relationships/image" Target="../media/image-9-46.png"/><Relationship Id="rId47" Type="http://schemas.openxmlformats.org/officeDocument/2006/relationships/image" Target="../media/image-9-47.png"/><Relationship Id="rId48" Type="http://schemas.openxmlformats.org/officeDocument/2006/relationships/image" Target="../media/image-9-48.png"/><Relationship Id="rId49" Type="http://schemas.openxmlformats.org/officeDocument/2006/relationships/image" Target="../media/image-9-49.png"/><Relationship Id="rId50" Type="http://schemas.openxmlformats.org/officeDocument/2006/relationships/image" Target="../media/image-9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pn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pn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pn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png"/><Relationship Id="rId33" Type="http://schemas.openxmlformats.org/officeDocument/2006/relationships/image" Target="../media/image-15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pn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png"/><Relationship Id="rId29" Type="http://schemas.openxmlformats.org/officeDocument/2006/relationships/image" Target="../media/image-16-29.png"/><Relationship Id="rId30" Type="http://schemas.openxmlformats.org/officeDocument/2006/relationships/image" Target="../media/image-16-30.png"/><Relationship Id="rId31" Type="http://schemas.openxmlformats.org/officeDocument/2006/relationships/image" Target="../media/image-16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png"/><Relationship Id="rId23" Type="http://schemas.openxmlformats.org/officeDocument/2006/relationships/image" Target="../media/image-18-23.png"/><Relationship Id="rId24" Type="http://schemas.openxmlformats.org/officeDocument/2006/relationships/image" Target="../media/image-18-24.png"/><Relationship Id="rId25" Type="http://schemas.openxmlformats.org/officeDocument/2006/relationships/image" Target="../media/image-18-25.png"/><Relationship Id="rId26" Type="http://schemas.openxmlformats.org/officeDocument/2006/relationships/image" Target="../media/image-18-26.png"/><Relationship Id="rId27" Type="http://schemas.openxmlformats.org/officeDocument/2006/relationships/image" Target="../media/image-18-27.png"/><Relationship Id="rId28" Type="http://schemas.openxmlformats.org/officeDocument/2006/relationships/image" Target="../media/image-18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819650"/>
            <a:ext cx="1162050" cy="762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00" y="1666875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</a:t>
            </a:r>
            <a:endParaRPr lang="en-US" sz="1700" dirty="0"/>
          </a:p>
        </p:txBody>
      </p:sp>
      <p:sp>
        <p:nvSpPr>
          <p:cNvPr id="8" name="Text 1"/>
          <p:cNvSpPr/>
          <p:nvPr/>
        </p:nvSpPr>
        <p:spPr>
          <a:xfrm>
            <a:off x="762000" y="2238375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 va O'zbekiston: Fuqarolarni himoya qilish va ekologiya</a:t>
            </a:r>
            <a:endParaRPr lang="en-US" sz="4500" dirty="0"/>
          </a:p>
        </p:txBody>
      </p:sp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4600" y="561975"/>
            <a:ext cx="1304925" cy="447675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61975"/>
            <a:ext cx="476250" cy="47625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333500" y="657225"/>
            <a:ext cx="12477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SonicSphere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10420350" y="657225"/>
            <a:ext cx="733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2026-yil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762000" y="6019800"/>
            <a:ext cx="21318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Taqdimot muallifi: [Ism]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9105900" y="247650"/>
            <a:ext cx="2362200" cy="2362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425" y="2000250"/>
            <a:ext cx="685800" cy="685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2000250"/>
            <a:ext cx="685800" cy="685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325" y="2000250"/>
            <a:ext cx="685800" cy="685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2000250"/>
            <a:ext cx="685800" cy="685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5425" y="4076700"/>
            <a:ext cx="685800" cy="685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3875" y="4076700"/>
            <a:ext cx="685800" cy="685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2325" y="4076700"/>
            <a:ext cx="685800" cy="685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0775" y="4076700"/>
            <a:ext cx="685800" cy="685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6219825"/>
            <a:ext cx="11068050" cy="3619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571500"/>
            <a:ext cx="11049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Mundarija</a:t>
            </a:r>
            <a:endParaRPr lang="en-US" sz="5700" dirty="0"/>
          </a:p>
        </p:txBody>
      </p:sp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5925" y="2190750"/>
            <a:ext cx="304800" cy="30480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577280" y="2790825"/>
            <a:ext cx="52208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100" dirty="0"/>
          </a:p>
        </p:txBody>
      </p:sp>
      <p:sp>
        <p:nvSpPr>
          <p:cNvPr id="17" name="Text 2"/>
          <p:cNvSpPr/>
          <p:nvPr/>
        </p:nvSpPr>
        <p:spPr>
          <a:xfrm>
            <a:off x="790575" y="332422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Kirish: Mavzuning dolzarbligi va tadqiqot maqsadi</a:t>
            </a:r>
            <a:endParaRPr lang="en-US" sz="1100" dirty="0"/>
          </a:p>
        </p:txBody>
      </p:sp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4375" y="2190750"/>
            <a:ext cx="304800" cy="30480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377630" y="2790825"/>
            <a:ext cx="59828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100" dirty="0"/>
          </a:p>
        </p:txBody>
      </p:sp>
      <p:sp>
        <p:nvSpPr>
          <p:cNvPr id="20" name="Text 4"/>
          <p:cNvSpPr/>
          <p:nvPr/>
        </p:nvSpPr>
        <p:spPr>
          <a:xfrm>
            <a:off x="3629025" y="332422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Nazariy asos va xalqaro yondashuvlar</a:t>
            </a:r>
            <a:endParaRPr lang="en-US" sz="1100" dirty="0"/>
          </a:p>
        </p:txBody>
      </p:sp>
      <p:pic>
        <p:nvPicPr>
          <p:cNvPr id="2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3775" y="2190750"/>
            <a:ext cx="342900" cy="304800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7206555" y="2790825"/>
            <a:ext cx="61733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100" dirty="0"/>
          </a:p>
        </p:txBody>
      </p:sp>
      <p:sp>
        <p:nvSpPr>
          <p:cNvPr id="23" name="Text 6"/>
          <p:cNvSpPr/>
          <p:nvPr/>
        </p:nvSpPr>
        <p:spPr>
          <a:xfrm>
            <a:off x="6467475" y="332422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 tizimi: Tashkiliy tuzilma va qonunchilik</a:t>
            </a:r>
            <a:endParaRPr lang="en-US" sz="1100" dirty="0"/>
          </a:p>
        </p:txBody>
      </p:sp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01275" y="2190750"/>
            <a:ext cx="304800" cy="30480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0030718" y="2790825"/>
            <a:ext cx="64591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100" dirty="0"/>
          </a:p>
        </p:txBody>
      </p:sp>
      <p:sp>
        <p:nvSpPr>
          <p:cNvPr id="26" name="Text 8"/>
          <p:cNvSpPr/>
          <p:nvPr/>
        </p:nvSpPr>
        <p:spPr>
          <a:xfrm>
            <a:off x="9305925" y="332422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Ispaniya: Xavflar, avariyalar va javob tizimi</a:t>
            </a:r>
            <a:endParaRPr lang="en-US" sz="1100" dirty="0"/>
          </a:p>
        </p:txBody>
      </p:sp>
      <p:pic>
        <p:nvPicPr>
          <p:cNvPr id="2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85925" y="4267200"/>
            <a:ext cx="304800" cy="304800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1520130" y="4867275"/>
            <a:ext cx="63638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100" dirty="0"/>
          </a:p>
        </p:txBody>
      </p:sp>
      <p:sp>
        <p:nvSpPr>
          <p:cNvPr id="29" name="Text 10"/>
          <p:cNvSpPr/>
          <p:nvPr/>
        </p:nvSpPr>
        <p:spPr>
          <a:xfrm>
            <a:off x="790575" y="540067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Ispaniya: Ekologik tahlil va yashil iqtisodiyot</a:t>
            </a:r>
            <a:endParaRPr lang="en-US" sz="1100" dirty="0"/>
          </a:p>
        </p:txBody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3425" y="4267200"/>
            <a:ext cx="266700" cy="304800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4363343" y="4867275"/>
            <a:ext cx="6268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3100" dirty="0"/>
          </a:p>
        </p:txBody>
      </p:sp>
      <p:sp>
        <p:nvSpPr>
          <p:cNvPr id="32" name="Text 12"/>
          <p:cNvSpPr/>
          <p:nvPr/>
        </p:nvSpPr>
        <p:spPr>
          <a:xfrm>
            <a:off x="3629025" y="540067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 fuqarolarni himoya qilish tizimi</a:t>
            </a:r>
            <a:endParaRPr lang="en-US" sz="1100" dirty="0"/>
          </a:p>
        </p:txBody>
      </p:sp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62825" y="4267200"/>
            <a:ext cx="304800" cy="30480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7225605" y="4867275"/>
            <a:ext cx="57923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3100" dirty="0"/>
          </a:p>
        </p:txBody>
      </p:sp>
      <p:sp>
        <p:nvSpPr>
          <p:cNvPr id="35" name="Text 14"/>
          <p:cNvSpPr/>
          <p:nvPr/>
        </p:nvSpPr>
        <p:spPr>
          <a:xfrm>
            <a:off x="6467475" y="540067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Taqqoslash: Ispaniya va O'zbekiston</a:t>
            </a:r>
            <a:endParaRPr lang="en-US" sz="1100" dirty="0"/>
          </a:p>
        </p:txBody>
      </p:sp>
      <p:pic>
        <p:nvPicPr>
          <p:cNvPr id="3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29850" y="4267200"/>
            <a:ext cx="247650" cy="304800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10040243" y="4867275"/>
            <a:ext cx="6268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3100" dirty="0"/>
          </a:p>
        </p:txBody>
      </p:sp>
      <p:sp>
        <p:nvSpPr>
          <p:cNvPr id="38" name="Text 16"/>
          <p:cNvSpPr/>
          <p:nvPr/>
        </p:nvSpPr>
        <p:spPr>
          <a:xfrm>
            <a:off x="9305925" y="5400675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Takliflar, xulosa va adabiyotlar</a:t>
            </a:r>
            <a:endParaRPr lang="en-US" sz="1100" dirty="0"/>
          </a:p>
        </p:txBody>
      </p:sp>
      <p:sp>
        <p:nvSpPr>
          <p:cNvPr id="39" name="Text 17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40" name="Text 18"/>
          <p:cNvSpPr/>
          <p:nvPr/>
        </p:nvSpPr>
        <p:spPr>
          <a:xfrm>
            <a:off x="114585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401175" y="3524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162050"/>
            <a:ext cx="971550" cy="66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504950"/>
            <a:ext cx="4781550" cy="28860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50" y="3286125"/>
            <a:ext cx="1476375" cy="5905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4325" y="3143250"/>
            <a:ext cx="1276350" cy="7334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4591050"/>
            <a:ext cx="4781550" cy="6762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5391150"/>
            <a:ext cx="4781550" cy="6762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5475" y="4095750"/>
            <a:ext cx="5924550" cy="11525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571500"/>
            <a:ext cx="110490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KIRISH Mavzuning dolzarbligi</a:t>
            </a:r>
            <a:endParaRPr lang="en-US" sz="3400" dirty="0"/>
          </a:p>
        </p:txBody>
      </p:sp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>
            <a:alphaModFix amt="10000"/>
          </a:blip>
          <a:stretch>
            <a:fillRect/>
          </a:stretch>
        </p:blipFill>
        <p:spPr>
          <a:xfrm>
            <a:off x="2085975" y="2076450"/>
            <a:ext cx="1733550" cy="1743075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85950" y="2790825"/>
            <a:ext cx="200025" cy="257175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697236" y="3069729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</a:t>
            </a:r>
            <a:endParaRPr lang="en-US" sz="800" dirty="0"/>
          </a:p>
        </p:txBody>
      </p:sp>
      <p:sp>
        <p:nvSpPr>
          <p:cNvPr id="17" name="Text 2"/>
          <p:cNvSpPr/>
          <p:nvPr/>
        </p:nvSpPr>
        <p:spPr>
          <a:xfrm>
            <a:off x="1378148" y="3384054"/>
            <a:ext cx="12096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Valensiya (2024)</a:t>
            </a:r>
            <a:endParaRPr lang="en-US" sz="700" dirty="0"/>
          </a:p>
        </p:txBody>
      </p:sp>
      <p:sp>
        <p:nvSpPr>
          <p:cNvPr id="18" name="Text 3"/>
          <p:cNvSpPr/>
          <p:nvPr/>
        </p:nvSpPr>
        <p:spPr>
          <a:xfrm>
            <a:off x="1378148" y="3526929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223+ halok bo'ldi</a:t>
            </a:r>
            <a:endParaRPr lang="en-US" sz="900" dirty="0"/>
          </a:p>
        </p:txBody>
      </p:sp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9150" y="2647950"/>
            <a:ext cx="200025" cy="257175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4302919" y="2927747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</a:t>
            </a:r>
            <a:endParaRPr lang="en-US" sz="800" dirty="0"/>
          </a:p>
        </p:txBody>
      </p:sp>
      <p:sp>
        <p:nvSpPr>
          <p:cNvPr id="21" name="Text 5"/>
          <p:cNvSpPr/>
          <p:nvPr/>
        </p:nvSpPr>
        <p:spPr>
          <a:xfrm>
            <a:off x="4224338" y="3242072"/>
            <a:ext cx="10144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 tanqisligi (2030)</a:t>
            </a:r>
            <a:endParaRPr lang="en-US" sz="700" dirty="0"/>
          </a:p>
        </p:txBody>
      </p:sp>
      <p:sp>
        <p:nvSpPr>
          <p:cNvPr id="22" name="Text 6"/>
          <p:cNvSpPr/>
          <p:nvPr/>
        </p:nvSpPr>
        <p:spPr>
          <a:xfrm>
            <a:off x="4224338" y="3527822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mlrd m³</a:t>
            </a:r>
            <a:endParaRPr lang="en-US" sz="900" dirty="0"/>
          </a:p>
        </p:txBody>
      </p:sp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4800600"/>
            <a:ext cx="247650" cy="257175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143000" y="4754761"/>
            <a:ext cx="398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Obyekt</a:t>
            </a:r>
            <a:endParaRPr lang="en-US" sz="900" dirty="0"/>
          </a:p>
        </p:txBody>
      </p:sp>
      <p:sp>
        <p:nvSpPr>
          <p:cNvPr id="25" name="Text 8"/>
          <p:cNvSpPr/>
          <p:nvPr/>
        </p:nvSpPr>
        <p:spPr>
          <a:xfrm>
            <a:off x="1143000" y="4945261"/>
            <a:ext cx="398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Fuqarolarni himoya qilish va atrof-muhitni muhofaza qilish tizimlari</a:t>
            </a:r>
            <a:endParaRPr lang="en-US" sz="800" dirty="0"/>
          </a:p>
        </p:txBody>
      </p:sp>
      <p:pic>
        <p:nvPicPr>
          <p:cNvPr id="2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5600700"/>
            <a:ext cx="247650" cy="257175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1143000" y="5554861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Predmet</a:t>
            </a:r>
            <a:endParaRPr lang="en-US" sz="900" dirty="0"/>
          </a:p>
        </p:txBody>
      </p:sp>
      <p:sp>
        <p:nvSpPr>
          <p:cNvPr id="28" name="Text 10"/>
          <p:cNvSpPr/>
          <p:nvPr/>
        </p:nvSpPr>
        <p:spPr>
          <a:xfrm>
            <a:off x="1143000" y="5745361"/>
            <a:ext cx="3190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 va O'zbekiston tizimlarining taqqoslash tahlili</a:t>
            </a:r>
            <a:endParaRPr lang="en-US" sz="800" dirty="0"/>
          </a:p>
        </p:txBody>
      </p:sp>
      <p:sp>
        <p:nvSpPr>
          <p:cNvPr id="29" name="Text 11"/>
          <p:cNvSpPr/>
          <p:nvPr/>
        </p:nvSpPr>
        <p:spPr>
          <a:xfrm>
            <a:off x="5962650" y="1525786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Dolzarblik</a:t>
            </a:r>
            <a:endParaRPr lang="en-US" sz="1200" dirty="0"/>
          </a:p>
        </p:txBody>
      </p:sp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05475" y="1552575"/>
            <a:ext cx="190500" cy="200025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5715000" y="19353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2" name="Text 13"/>
          <p:cNvSpPr/>
          <p:nvPr/>
        </p:nvSpPr>
        <p:spPr>
          <a:xfrm>
            <a:off x="5838825" y="1897261"/>
            <a:ext cx="5781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Iqlim o'zgarishi globallashuv davrida fuqarolarni himoya qilish tizimlarini takomillashtirish dolzarb masala</a:t>
            </a:r>
            <a:endParaRPr lang="en-US" sz="900" dirty="0"/>
          </a:p>
        </p:txBody>
      </p:sp>
      <p:sp>
        <p:nvSpPr>
          <p:cNvPr id="33" name="Text 14"/>
          <p:cNvSpPr/>
          <p:nvPr/>
        </p:nvSpPr>
        <p:spPr>
          <a:xfrm>
            <a:off x="5715000" y="23925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5838825" y="2354461"/>
            <a:ext cx="5781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2024-yil Valensiya suv toshqinlarida 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223+ kishi halok bo'ldi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Ispaniyaning zamonaviy tarixidagi eng og'ir tabiiy ofat</a:t>
            </a:r>
            <a:endParaRPr lang="en-US" sz="900" dirty="0"/>
          </a:p>
        </p:txBody>
      </p:sp>
      <p:sp>
        <p:nvSpPr>
          <p:cNvPr id="35" name="Text 16"/>
          <p:cNvSpPr/>
          <p:nvPr/>
        </p:nvSpPr>
        <p:spPr>
          <a:xfrm>
            <a:off x="5715000" y="28497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5838825" y="2811661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 2030-yilgacha 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mlrd m³ suv tanqisligiga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duch kelmoqda</a:t>
            </a:r>
            <a:endParaRPr lang="en-US" sz="900" dirty="0"/>
          </a:p>
        </p:txBody>
      </p:sp>
      <p:sp>
        <p:nvSpPr>
          <p:cNvPr id="37" name="Text 18"/>
          <p:cNvSpPr/>
          <p:nvPr/>
        </p:nvSpPr>
        <p:spPr>
          <a:xfrm>
            <a:off x="5715000" y="31545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8" name="Text 19"/>
          <p:cNvSpPr/>
          <p:nvPr/>
        </p:nvSpPr>
        <p:spPr>
          <a:xfrm>
            <a:off x="5838825" y="3116461"/>
            <a:ext cx="5781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ikki davlat uchun favqulodda vaziyatlarga javob tizimini takomillashtirish hayotiy ahamiyatga ega</a:t>
            </a:r>
            <a:endParaRPr lang="en-US" sz="900" dirty="0"/>
          </a:p>
        </p:txBody>
      </p:sp>
      <p:sp>
        <p:nvSpPr>
          <p:cNvPr id="39" name="Text 20"/>
          <p:cNvSpPr/>
          <p:nvPr/>
        </p:nvSpPr>
        <p:spPr>
          <a:xfrm>
            <a:off x="5962650" y="3735586"/>
            <a:ext cx="2828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Tadqiqot maqsadi va vazifalar</a:t>
            </a:r>
            <a:endParaRPr lang="en-US" sz="1200" dirty="0"/>
          </a:p>
        </p:txBody>
      </p:sp>
      <p:pic>
        <p:nvPicPr>
          <p:cNvPr id="4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05475" y="3762375"/>
            <a:ext cx="190500" cy="200025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5876925" y="4268986"/>
            <a:ext cx="558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 tajribasini tahlil qilib, O'zbekiston uchun amaliy tavsiyalar ishlab chiqish</a:t>
            </a:r>
            <a:endParaRPr lang="en-US" sz="900" dirty="0"/>
          </a:p>
        </p:txBody>
      </p:sp>
      <p:sp>
        <p:nvSpPr>
          <p:cNvPr id="42" name="Text 22"/>
          <p:cNvSpPr/>
          <p:nvPr/>
        </p:nvSpPr>
        <p:spPr>
          <a:xfrm>
            <a:off x="6057900" y="4526161"/>
            <a:ext cx="1285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Tizimlarni taqqoslash</a:t>
            </a:r>
            <a:endParaRPr lang="en-US" sz="800" dirty="0"/>
          </a:p>
        </p:txBody>
      </p:sp>
      <p:pic>
        <p:nvPicPr>
          <p:cNvPr id="4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67400" y="4543425"/>
            <a:ext cx="123825" cy="142875"/>
          </a:xfrm>
          <a:prstGeom prst="rect">
            <a:avLst/>
          </a:prstGeom>
        </p:spPr>
      </p:pic>
      <p:sp>
        <p:nvSpPr>
          <p:cNvPr id="44" name="Text 23"/>
          <p:cNvSpPr/>
          <p:nvPr/>
        </p:nvSpPr>
        <p:spPr>
          <a:xfrm>
            <a:off x="6057900" y="4716661"/>
            <a:ext cx="1447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Qonunchilikni tahlil qilish</a:t>
            </a:r>
            <a:endParaRPr lang="en-US" sz="800" dirty="0"/>
          </a:p>
        </p:txBody>
      </p:sp>
      <p:pic>
        <p:nvPicPr>
          <p:cNvPr id="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7400" y="4733925"/>
            <a:ext cx="123825" cy="142875"/>
          </a:xfrm>
          <a:prstGeom prst="rect">
            <a:avLst/>
          </a:prstGeom>
        </p:spPr>
      </p:pic>
      <p:sp>
        <p:nvSpPr>
          <p:cNvPr id="46" name="Text 24"/>
          <p:cNvSpPr/>
          <p:nvPr/>
        </p:nvSpPr>
        <p:spPr>
          <a:xfrm>
            <a:off x="6057900" y="4907161"/>
            <a:ext cx="162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Ekologik siyosatni baholash</a:t>
            </a:r>
            <a:endParaRPr lang="en-US" sz="800" dirty="0"/>
          </a:p>
        </p:txBody>
      </p:sp>
      <p:pic>
        <p:nvPicPr>
          <p:cNvPr id="4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67400" y="4924425"/>
            <a:ext cx="123825" cy="142875"/>
          </a:xfrm>
          <a:prstGeom prst="rect">
            <a:avLst/>
          </a:prstGeom>
        </p:spPr>
      </p:pic>
      <p:sp>
        <p:nvSpPr>
          <p:cNvPr id="48" name="Text 25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49" name="Text 26"/>
          <p:cNvSpPr/>
          <p:nvPr/>
        </p:nvSpPr>
        <p:spPr>
          <a:xfrm>
            <a:off x="11439525" y="638175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401175" y="7334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400175"/>
            <a:ext cx="971550" cy="66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819275"/>
            <a:ext cx="5800725" cy="857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05000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667000"/>
            <a:ext cx="5800725" cy="6953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752725"/>
            <a:ext cx="323850" cy="333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343275"/>
            <a:ext cx="5800725" cy="6953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429000"/>
            <a:ext cx="323850" cy="3333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029075"/>
            <a:ext cx="5800725" cy="857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4114800"/>
            <a:ext cx="323850" cy="3333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4914900"/>
            <a:ext cx="5734050" cy="10191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53275" y="1952625"/>
            <a:ext cx="1733550" cy="17430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8775" y="1952625"/>
            <a:ext cx="1733550" cy="17430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48775" y="4048125"/>
            <a:ext cx="1733550" cy="17430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53275" y="4048125"/>
            <a:ext cx="1733550" cy="17430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2475" y="6210300"/>
            <a:ext cx="10687050" cy="371475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62000" y="762000"/>
            <a:ext cx="10668000" cy="613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NAZARIY ASOS Asosiy tushunchalar</a:t>
            </a:r>
            <a:endParaRPr lang="en-US" sz="3900" dirty="0"/>
          </a:p>
        </p:txBody>
      </p:sp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4400" y="1981200"/>
            <a:ext cx="171450" cy="180975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1228725" y="1916311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Fuqarolarni himoya qilish</a:t>
            </a:r>
            <a:endParaRPr lang="en-US" sz="1100" dirty="0"/>
          </a:p>
        </p:txBody>
      </p:sp>
      <p:sp>
        <p:nvSpPr>
          <p:cNvPr id="23" name="Text 2"/>
          <p:cNvSpPr/>
          <p:nvPr/>
        </p:nvSpPr>
        <p:spPr>
          <a:xfrm>
            <a:off x="1228725" y="2183011"/>
            <a:ext cx="51625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aholi, mol-mulk va muhitni tabiiy va texnogen xavflardan saqlash bo'yicha davlat va jamoat choralari tizimi</a:t>
            </a:r>
            <a:endParaRPr lang="en-US" sz="900" dirty="0"/>
          </a:p>
        </p:txBody>
      </p:sp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2828925"/>
            <a:ext cx="171450" cy="180975"/>
          </a:xfrm>
          <a:prstGeom prst="rect">
            <a:avLst/>
          </a:prstGeom>
        </p:spPr>
      </p:pic>
      <p:sp>
        <p:nvSpPr>
          <p:cNvPr id="25" name="Text 3"/>
          <p:cNvSpPr/>
          <p:nvPr/>
        </p:nvSpPr>
        <p:spPr>
          <a:xfrm>
            <a:off x="1228725" y="2764036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 va risklarni boshqarish</a:t>
            </a:r>
            <a:endParaRPr lang="en-US" sz="1100" dirty="0"/>
          </a:p>
        </p:txBody>
      </p:sp>
      <p:sp>
        <p:nvSpPr>
          <p:cNvPr id="26" name="Text 4"/>
          <p:cNvSpPr/>
          <p:nvPr/>
        </p:nvSpPr>
        <p:spPr>
          <a:xfrm>
            <a:off x="1228725" y="3030736"/>
            <a:ext cx="48196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xavf-xatarni aniqlash, baholash, kamaytirish va monitoring qilish jarayoni</a:t>
            </a:r>
            <a:endParaRPr lang="en-US" sz="900" dirty="0"/>
          </a:p>
        </p:txBody>
      </p:sp>
      <p:pic>
        <p:nvPicPr>
          <p:cNvPr id="2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400" y="3505200"/>
            <a:ext cx="171450" cy="180975"/>
          </a:xfrm>
          <a:prstGeom prst="rect">
            <a:avLst/>
          </a:prstGeom>
        </p:spPr>
      </p:pic>
      <p:sp>
        <p:nvSpPr>
          <p:cNvPr id="28" name="Text 5"/>
          <p:cNvSpPr/>
          <p:nvPr/>
        </p:nvSpPr>
        <p:spPr>
          <a:xfrm>
            <a:off x="1228725" y="3445073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Favqulodda vaziyatlarni boshqarish</a:t>
            </a:r>
            <a:endParaRPr lang="en-US" sz="1100" dirty="0"/>
          </a:p>
        </p:txBody>
      </p:sp>
      <p:sp>
        <p:nvSpPr>
          <p:cNvPr id="29" name="Text 6"/>
          <p:cNvSpPr/>
          <p:nvPr/>
        </p:nvSpPr>
        <p:spPr>
          <a:xfrm>
            <a:off x="1228725" y="3711773"/>
            <a:ext cx="423862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oldini olish, tayyorgarlik ko'rish, javob berish va tiklash bosqichlari</a:t>
            </a:r>
            <a:endParaRPr lang="en-US" sz="900" dirty="0"/>
          </a:p>
        </p:txBody>
      </p:sp>
      <p:pic>
        <p:nvPicPr>
          <p:cNvPr id="3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400" y="4191000"/>
            <a:ext cx="171450" cy="180975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1228725" y="4126111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Ekologik boshqaruv</a:t>
            </a:r>
            <a:endParaRPr lang="en-US" sz="1100" dirty="0"/>
          </a:p>
        </p:txBody>
      </p:sp>
      <p:sp>
        <p:nvSpPr>
          <p:cNvPr id="32" name="Text 8"/>
          <p:cNvSpPr/>
          <p:nvPr/>
        </p:nvSpPr>
        <p:spPr>
          <a:xfrm>
            <a:off x="1228725" y="4392811"/>
            <a:ext cx="51625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tabiiy resurslardan foydalanishni tartibga solish va atrof-muhitni himoya qilish tizimi</a:t>
            </a:r>
            <a:endParaRPr lang="en-US" sz="900" dirty="0"/>
          </a:p>
        </p:txBody>
      </p:sp>
      <p:sp>
        <p:nvSpPr>
          <p:cNvPr id="33" name="Text 9"/>
          <p:cNvSpPr/>
          <p:nvPr/>
        </p:nvSpPr>
        <p:spPr>
          <a:xfrm>
            <a:off x="914400" y="5040511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Sendai Framework (2015-2030) — 4 ta ustuvor yo'nalish:</a:t>
            </a:r>
            <a:endParaRPr lang="en-US" sz="900" dirty="0"/>
          </a:p>
        </p:txBody>
      </p:sp>
      <p:sp>
        <p:nvSpPr>
          <p:cNvPr id="34" name="Text 10"/>
          <p:cNvSpPr/>
          <p:nvPr/>
        </p:nvSpPr>
        <p:spPr>
          <a:xfrm>
            <a:off x="914400" y="5307211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Xavf-xatarlarni tushunish</a:t>
            </a:r>
            <a:endParaRPr lang="en-US" sz="800" dirty="0"/>
          </a:p>
        </p:txBody>
      </p:sp>
      <p:sp>
        <p:nvSpPr>
          <p:cNvPr id="35" name="Text 11"/>
          <p:cNvSpPr/>
          <p:nvPr/>
        </p:nvSpPr>
        <p:spPr>
          <a:xfrm>
            <a:off x="3714750" y="5307211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Xavf-xatar boshqaruvini kuchaytirish</a:t>
            </a:r>
            <a:endParaRPr lang="en-US" sz="800" dirty="0"/>
          </a:p>
        </p:txBody>
      </p:sp>
      <p:sp>
        <p:nvSpPr>
          <p:cNvPr id="36" name="Text 12"/>
          <p:cNvSpPr/>
          <p:nvPr/>
        </p:nvSpPr>
        <p:spPr>
          <a:xfrm>
            <a:off x="914400" y="5497711"/>
            <a:ext cx="264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Resilientlikka investitsiya qilish</a:t>
            </a:r>
            <a:endParaRPr lang="en-US" sz="800" dirty="0"/>
          </a:p>
        </p:txBody>
      </p:sp>
      <p:sp>
        <p:nvSpPr>
          <p:cNvPr id="37" name="Text 13"/>
          <p:cNvSpPr/>
          <p:nvPr/>
        </p:nvSpPr>
        <p:spPr>
          <a:xfrm>
            <a:off x="3714750" y="5497711"/>
            <a:ext cx="264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Tayyorgarlikni oshirish va "Build Back Better"</a:t>
            </a:r>
            <a:endParaRPr lang="en-US" sz="800" dirty="0"/>
          </a:p>
        </p:txBody>
      </p:sp>
      <p:pic>
        <p:nvPicPr>
          <p:cNvPr id="3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96225" y="2495550"/>
            <a:ext cx="247650" cy="257175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7624762" y="2811661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Oldini olish</a:t>
            </a:r>
            <a:endParaRPr lang="en-US" sz="900" dirty="0"/>
          </a:p>
        </p:txBody>
      </p:sp>
      <p:sp>
        <p:nvSpPr>
          <p:cNvPr id="40" name="Text 15"/>
          <p:cNvSpPr/>
          <p:nvPr/>
        </p:nvSpPr>
        <p:spPr>
          <a:xfrm>
            <a:off x="7710487" y="3002161"/>
            <a:ext cx="619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(Prevention)</a:t>
            </a:r>
            <a:endParaRPr lang="en-US" sz="700" dirty="0"/>
          </a:p>
        </p:txBody>
      </p:sp>
      <p:pic>
        <p:nvPicPr>
          <p:cNvPr id="4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15400" y="2714625"/>
            <a:ext cx="219075" cy="257175"/>
          </a:xfrm>
          <a:prstGeom prst="rect">
            <a:avLst/>
          </a:prstGeom>
        </p:spPr>
      </p:pic>
      <p:pic>
        <p:nvPicPr>
          <p:cNvPr id="4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20300" y="2495550"/>
            <a:ext cx="190500" cy="257175"/>
          </a:xfrm>
          <a:prstGeom prst="rect">
            <a:avLst/>
          </a:prstGeom>
        </p:spPr>
      </p:pic>
      <p:sp>
        <p:nvSpPr>
          <p:cNvPr id="43" name="Text 16"/>
          <p:cNvSpPr/>
          <p:nvPr/>
        </p:nvSpPr>
        <p:spPr>
          <a:xfrm>
            <a:off x="9644063" y="2811661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Tayyorgarlik</a:t>
            </a:r>
            <a:endParaRPr lang="en-US" sz="900" dirty="0"/>
          </a:p>
        </p:txBody>
      </p:sp>
      <p:sp>
        <p:nvSpPr>
          <p:cNvPr id="44" name="Text 17"/>
          <p:cNvSpPr/>
          <p:nvPr/>
        </p:nvSpPr>
        <p:spPr>
          <a:xfrm>
            <a:off x="9725025" y="3002161"/>
            <a:ext cx="7810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(Preparedness)</a:t>
            </a:r>
            <a:endParaRPr lang="en-US" sz="700" dirty="0"/>
          </a:p>
        </p:txBody>
      </p:sp>
      <p:pic>
        <p:nvPicPr>
          <p:cNvPr id="4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29825" y="3714750"/>
            <a:ext cx="190500" cy="257175"/>
          </a:xfrm>
          <a:prstGeom prst="rect">
            <a:avLst/>
          </a:prstGeom>
        </p:spPr>
      </p:pic>
      <p:pic>
        <p:nvPicPr>
          <p:cNvPr id="4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63150" y="4591050"/>
            <a:ext cx="304800" cy="257175"/>
          </a:xfrm>
          <a:prstGeom prst="rect">
            <a:avLst/>
          </a:prstGeom>
        </p:spPr>
      </p:pic>
      <p:sp>
        <p:nvSpPr>
          <p:cNvPr id="47" name="Text 18"/>
          <p:cNvSpPr/>
          <p:nvPr/>
        </p:nvSpPr>
        <p:spPr>
          <a:xfrm>
            <a:off x="9639300" y="4907161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Javob berish</a:t>
            </a:r>
            <a:endParaRPr lang="en-US" sz="900" dirty="0"/>
          </a:p>
        </p:txBody>
      </p:sp>
      <p:sp>
        <p:nvSpPr>
          <p:cNvPr id="48" name="Text 19"/>
          <p:cNvSpPr/>
          <p:nvPr/>
        </p:nvSpPr>
        <p:spPr>
          <a:xfrm>
            <a:off x="9825038" y="5097661"/>
            <a:ext cx="581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(Response)</a:t>
            </a:r>
            <a:endParaRPr lang="en-US" sz="700" dirty="0"/>
          </a:p>
        </p:txBody>
      </p:sp>
      <p:pic>
        <p:nvPicPr>
          <p:cNvPr id="4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01125" y="4772025"/>
            <a:ext cx="219075" cy="257175"/>
          </a:xfrm>
          <a:prstGeom prst="rect">
            <a:avLst/>
          </a:prstGeom>
        </p:spPr>
      </p:pic>
      <p:pic>
        <p:nvPicPr>
          <p:cNvPr id="5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96225" y="4591050"/>
            <a:ext cx="247650" cy="257175"/>
          </a:xfrm>
          <a:prstGeom prst="rect">
            <a:avLst/>
          </a:prstGeom>
        </p:spPr>
      </p:pic>
      <p:sp>
        <p:nvSpPr>
          <p:cNvPr id="51" name="Text 20"/>
          <p:cNvSpPr/>
          <p:nvPr/>
        </p:nvSpPr>
        <p:spPr>
          <a:xfrm>
            <a:off x="7758113" y="4907161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Tiklash</a:t>
            </a:r>
            <a:endParaRPr lang="en-US" sz="900" dirty="0"/>
          </a:p>
        </p:txBody>
      </p:sp>
      <p:sp>
        <p:nvSpPr>
          <p:cNvPr id="52" name="Text 21"/>
          <p:cNvSpPr/>
          <p:nvPr/>
        </p:nvSpPr>
        <p:spPr>
          <a:xfrm>
            <a:off x="7748588" y="5097661"/>
            <a:ext cx="542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(Recovery)</a:t>
            </a:r>
            <a:endParaRPr lang="en-US" sz="700" dirty="0"/>
          </a:p>
        </p:txBody>
      </p:sp>
      <p:pic>
        <p:nvPicPr>
          <p:cNvPr id="5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15275" y="3771900"/>
            <a:ext cx="190500" cy="257175"/>
          </a:xfrm>
          <a:prstGeom prst="rect">
            <a:avLst/>
          </a:prstGeom>
        </p:spPr>
      </p:pic>
      <p:sp>
        <p:nvSpPr>
          <p:cNvPr id="54" name="Text 22"/>
          <p:cNvSpPr/>
          <p:nvPr/>
        </p:nvSpPr>
        <p:spPr>
          <a:xfrm>
            <a:off x="7620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55" name="Text 23"/>
          <p:cNvSpPr/>
          <p:nvPr/>
        </p:nvSpPr>
        <p:spPr>
          <a:xfrm>
            <a:off x="11239500" y="63817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401175" y="5429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438275"/>
            <a:ext cx="971550" cy="66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" y="2200275"/>
            <a:ext cx="9925050" cy="666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25" y="2066925"/>
            <a:ext cx="285750" cy="2952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2066925"/>
            <a:ext cx="295275" cy="2952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850" y="2066925"/>
            <a:ext cx="295275" cy="2952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1825" y="2066925"/>
            <a:ext cx="285750" cy="2952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152775"/>
            <a:ext cx="3514725" cy="1143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1975" y="3152775"/>
            <a:ext cx="3514725" cy="1143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1475" y="3152775"/>
            <a:ext cx="3514725" cy="1143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4400550"/>
            <a:ext cx="3514725" cy="1143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1975" y="4400550"/>
            <a:ext cx="3514725" cy="1143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91475" y="4400550"/>
            <a:ext cx="3448050" cy="10858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6210300"/>
            <a:ext cx="10687050" cy="37147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762000"/>
            <a:ext cx="10668000" cy="613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NAZARIY ASOS Xalqaro yondashuvlar</a:t>
            </a:r>
            <a:endParaRPr lang="en-US" sz="3900" dirty="0"/>
          </a:p>
        </p:txBody>
      </p:sp>
      <p:sp>
        <p:nvSpPr>
          <p:cNvPr id="19" name="Text 1"/>
          <p:cNvSpPr/>
          <p:nvPr/>
        </p:nvSpPr>
        <p:spPr>
          <a:xfrm>
            <a:off x="1081088" y="1765846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2015</a:t>
            </a:r>
            <a:endParaRPr lang="en-US" sz="1100" dirty="0"/>
          </a:p>
        </p:txBody>
      </p:sp>
      <p:sp>
        <p:nvSpPr>
          <p:cNvPr id="20" name="Text 2"/>
          <p:cNvSpPr/>
          <p:nvPr/>
        </p:nvSpPr>
        <p:spPr>
          <a:xfrm>
            <a:off x="400050" y="2432596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Sendai Framework</a:t>
            </a:r>
            <a:endParaRPr lang="en-US" sz="800" dirty="0"/>
          </a:p>
        </p:txBody>
      </p:sp>
      <p:sp>
        <p:nvSpPr>
          <p:cNvPr id="21" name="Text 3"/>
          <p:cNvSpPr/>
          <p:nvPr/>
        </p:nvSpPr>
        <p:spPr>
          <a:xfrm>
            <a:off x="4306937" y="1765846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2015</a:t>
            </a:r>
            <a:endParaRPr lang="en-US" sz="1100" dirty="0"/>
          </a:p>
        </p:txBody>
      </p:sp>
      <p:sp>
        <p:nvSpPr>
          <p:cNvPr id="22" name="Text 4"/>
          <p:cNvSpPr/>
          <p:nvPr/>
        </p:nvSpPr>
        <p:spPr>
          <a:xfrm>
            <a:off x="3625900" y="2432596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Paris Agreement</a:t>
            </a:r>
            <a:endParaRPr lang="en-US" sz="800" dirty="0"/>
          </a:p>
        </p:txBody>
      </p:sp>
      <p:sp>
        <p:nvSpPr>
          <p:cNvPr id="23" name="Text 5"/>
          <p:cNvSpPr/>
          <p:nvPr/>
        </p:nvSpPr>
        <p:spPr>
          <a:xfrm>
            <a:off x="7513588" y="1765846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100" dirty="0"/>
          </a:p>
        </p:txBody>
      </p:sp>
      <p:sp>
        <p:nvSpPr>
          <p:cNvPr id="24" name="Text 6"/>
          <p:cNvSpPr/>
          <p:nvPr/>
        </p:nvSpPr>
        <p:spPr>
          <a:xfrm>
            <a:off x="6851600" y="2432596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EW4All Initiative</a:t>
            </a:r>
            <a:endParaRPr lang="en-US" sz="800" dirty="0"/>
          </a:p>
        </p:txBody>
      </p:sp>
      <p:sp>
        <p:nvSpPr>
          <p:cNvPr id="25" name="Text 7"/>
          <p:cNvSpPr/>
          <p:nvPr/>
        </p:nvSpPr>
        <p:spPr>
          <a:xfrm>
            <a:off x="10739438" y="1765846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</a:t>
            </a:r>
            <a:endParaRPr lang="en-US" sz="1100" dirty="0"/>
          </a:p>
        </p:txBody>
      </p:sp>
      <p:sp>
        <p:nvSpPr>
          <p:cNvPr id="26" name="Text 8"/>
          <p:cNvSpPr/>
          <p:nvPr/>
        </p:nvSpPr>
        <p:spPr>
          <a:xfrm>
            <a:off x="10077450" y="2432596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(Universal Coverage)</a:t>
            </a:r>
            <a:endParaRPr lang="en-US" sz="800" dirty="0"/>
          </a:p>
        </p:txBody>
      </p:sp>
      <p:pic>
        <p:nvPicPr>
          <p:cNvPr id="2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2500" y="3352800"/>
            <a:ext cx="209550" cy="219075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1266825" y="3366046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BMT Sendai Framework</a:t>
            </a:r>
            <a:endParaRPr lang="en-US" sz="900" dirty="0"/>
          </a:p>
        </p:txBody>
      </p:sp>
      <p:sp>
        <p:nvSpPr>
          <p:cNvPr id="29" name="Text 10"/>
          <p:cNvSpPr/>
          <p:nvPr/>
        </p:nvSpPr>
        <p:spPr>
          <a:xfrm>
            <a:off x="962025" y="3651796"/>
            <a:ext cx="3028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ta tamoyil, 4 ta ustuvor yo'nalish, 7 ta global maqsad</a:t>
            </a:r>
            <a:endParaRPr lang="en-US" sz="800" dirty="0"/>
          </a:p>
        </p:txBody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0" y="3352800"/>
            <a:ext cx="209550" cy="219075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4886325" y="3366046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Civil Protection Mechanism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4581525" y="3651796"/>
            <a:ext cx="3028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Yevropa Ittifoqining favqulodda vaziyatlarda hamkorlik mexanizmi (rescEU)</a:t>
            </a:r>
            <a:endParaRPr lang="en-US" sz="800" dirty="0"/>
          </a:p>
        </p:txBody>
      </p:sp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0" y="3352800"/>
            <a:ext cx="209550" cy="219075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8505825" y="3366046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Warnings for All (EW4All)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8201025" y="3651796"/>
            <a:ext cx="3028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2027-yilgacha barcha odamlarni erta ogohlantirish tizimi bilan qoplash</a:t>
            </a:r>
            <a:endParaRPr lang="en-US" sz="800" dirty="0"/>
          </a:p>
        </p:txBody>
      </p:sp>
      <p:pic>
        <p:nvPicPr>
          <p:cNvPr id="3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" y="4600575"/>
            <a:ext cx="209550" cy="219075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1266825" y="4613821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Paris Agreement (2015)</a:t>
            </a:r>
            <a:endParaRPr lang="en-US" sz="900" dirty="0"/>
          </a:p>
        </p:txBody>
      </p:sp>
      <p:sp>
        <p:nvSpPr>
          <p:cNvPr id="38" name="Text 16"/>
          <p:cNvSpPr/>
          <p:nvPr/>
        </p:nvSpPr>
        <p:spPr>
          <a:xfrm>
            <a:off x="962025" y="4899571"/>
            <a:ext cx="30289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Iqlim o'zgarishiga qarshi global kelishuv</a:t>
            </a:r>
            <a:endParaRPr lang="en-US" sz="800" dirty="0"/>
          </a:p>
        </p:txBody>
      </p:sp>
      <p:pic>
        <p:nvPicPr>
          <p:cNvPr id="3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0" y="4600575"/>
            <a:ext cx="209550" cy="219075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4886325" y="4613821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SDGs (13-maqsad)</a:t>
            </a:r>
            <a:endParaRPr lang="en-US" sz="900" dirty="0"/>
          </a:p>
        </p:txBody>
      </p:sp>
      <p:sp>
        <p:nvSpPr>
          <p:cNvPr id="41" name="Text 18"/>
          <p:cNvSpPr/>
          <p:nvPr/>
        </p:nvSpPr>
        <p:spPr>
          <a:xfrm>
            <a:off x="4581525" y="4899571"/>
            <a:ext cx="30289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Barqaror rivojlanish maqsadlari: Iqlim harakati</a:t>
            </a:r>
            <a:endParaRPr lang="en-US" sz="800" dirty="0"/>
          </a:p>
        </p:txBody>
      </p:sp>
      <p:pic>
        <p:nvPicPr>
          <p:cNvPr id="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91500" y="4600575"/>
            <a:ext cx="209550" cy="219075"/>
          </a:xfrm>
          <a:prstGeom prst="rect">
            <a:avLst/>
          </a:prstGeom>
        </p:spPr>
      </p:pic>
      <p:sp>
        <p:nvSpPr>
          <p:cNvPr id="43" name="Text 19"/>
          <p:cNvSpPr/>
          <p:nvPr/>
        </p:nvSpPr>
        <p:spPr>
          <a:xfrm>
            <a:off x="8505825" y="4613821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Hozirgi holat</a:t>
            </a:r>
            <a:endParaRPr lang="en-US" sz="900" dirty="0"/>
          </a:p>
        </p:txBody>
      </p:sp>
      <p:sp>
        <p:nvSpPr>
          <p:cNvPr id="44" name="Text 20"/>
          <p:cNvSpPr/>
          <p:nvPr/>
        </p:nvSpPr>
        <p:spPr>
          <a:xfrm>
            <a:off x="8201025" y="4899571"/>
            <a:ext cx="3028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108 mamlakat (55%)</a:t>
            </a:r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ko'p xavfli erta ogohlantirish tizimiga ega, 2015-yilda bu ko'rsatkich 52 edi</a:t>
            </a:r>
            <a:endParaRPr lang="en-US" sz="800" dirty="0"/>
          </a:p>
        </p:txBody>
      </p:sp>
      <p:sp>
        <p:nvSpPr>
          <p:cNvPr id="45" name="Text 21"/>
          <p:cNvSpPr/>
          <p:nvPr/>
        </p:nvSpPr>
        <p:spPr>
          <a:xfrm>
            <a:off x="7620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46" name="Text 22"/>
          <p:cNvSpPr/>
          <p:nvPr/>
        </p:nvSpPr>
        <p:spPr>
          <a:xfrm>
            <a:off x="11249025" y="638175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267825" y="123825"/>
            <a:ext cx="2228850" cy="22288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685925"/>
            <a:ext cx="7810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350" y="1914525"/>
            <a:ext cx="4295775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1914525"/>
            <a:ext cx="36957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475" y="2352675"/>
            <a:ext cx="3133725" cy="8477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2475" y="3362325"/>
            <a:ext cx="3133725" cy="857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2475" y="4381500"/>
            <a:ext cx="3133725" cy="8477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5334000"/>
            <a:ext cx="3600450" cy="5810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419725"/>
            <a:ext cx="400050" cy="4095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5775" y="5334000"/>
            <a:ext cx="3600450" cy="5810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5419725"/>
            <a:ext cx="400050" cy="4095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9575" y="5334000"/>
            <a:ext cx="3600450" cy="5810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1500" y="5419725"/>
            <a:ext cx="400050" cy="4095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571500" y="571500"/>
            <a:ext cx="1104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ISPANIYA: Fuqarolarni himoya qilish tizimi va tashkiliy tuzilma</a:t>
            </a:r>
            <a:endParaRPr lang="en-US" sz="3100" dirty="0"/>
          </a:p>
        </p:txBody>
      </p:sp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00275" y="1962150"/>
            <a:ext cx="171450" cy="20955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2509838" y="1971675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Law 17/2015 — Milliy fuqarolarni himoya qilish tizimi</a:t>
            </a:r>
            <a:endParaRPr lang="en-US" sz="900" dirty="0"/>
          </a:p>
        </p:txBody>
      </p:sp>
      <p:pic>
        <p:nvPicPr>
          <p:cNvPr id="2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9875" y="1962150"/>
            <a:ext cx="247650" cy="209550"/>
          </a:xfrm>
          <a:prstGeom prst="rect">
            <a:avLst/>
          </a:prstGeom>
        </p:spPr>
      </p:pic>
      <p:sp>
        <p:nvSpPr>
          <p:cNvPr id="22" name="Text 2"/>
          <p:cNvSpPr/>
          <p:nvPr/>
        </p:nvSpPr>
        <p:spPr>
          <a:xfrm>
            <a:off x="7005638" y="19716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Royal Decree 524/2023 — Asosiy qoidalar</a:t>
            </a:r>
            <a:endParaRPr lang="en-US" sz="900" dirty="0"/>
          </a:p>
        </p:txBody>
      </p:sp>
      <p:sp>
        <p:nvSpPr>
          <p:cNvPr id="23" name="Text 3"/>
          <p:cNvSpPr/>
          <p:nvPr/>
        </p:nvSpPr>
        <p:spPr>
          <a:xfrm>
            <a:off x="5569148" y="2438400"/>
            <a:ext cx="10535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Milliy Daraja</a:t>
            </a:r>
            <a:endParaRPr lang="en-US" sz="800" dirty="0"/>
          </a:p>
        </p:txBody>
      </p:sp>
      <p:sp>
        <p:nvSpPr>
          <p:cNvPr id="24" name="Text 4"/>
          <p:cNvSpPr/>
          <p:nvPr/>
        </p:nvSpPr>
        <p:spPr>
          <a:xfrm>
            <a:off x="4972050" y="26289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Ichki ishlar vazirligi / DGPCE</a:t>
            </a:r>
            <a:endParaRPr lang="en-US" sz="1100" dirty="0"/>
          </a:p>
        </p:txBody>
      </p:sp>
      <p:sp>
        <p:nvSpPr>
          <p:cNvPr id="25" name="Text 5"/>
          <p:cNvSpPr/>
          <p:nvPr/>
        </p:nvSpPr>
        <p:spPr>
          <a:xfrm>
            <a:off x="4667250" y="2895600"/>
            <a:ext cx="2857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Davlat resurslarini muvofiqlashtirish, xalqaro yordam</a:t>
            </a:r>
            <a:endParaRPr lang="en-US" sz="700" dirty="0"/>
          </a:p>
        </p:txBody>
      </p:sp>
      <p:pic>
        <p:nvPicPr>
          <p:cNvPr id="2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0750" y="3152775"/>
            <a:ext cx="190500" cy="200025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5473005" y="3452813"/>
            <a:ext cx="12459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Hududiy Daraja</a:t>
            </a:r>
            <a:endParaRPr lang="en-US" sz="800" dirty="0"/>
          </a:p>
        </p:txBody>
      </p:sp>
      <p:sp>
        <p:nvSpPr>
          <p:cNvPr id="28" name="Text 7"/>
          <p:cNvSpPr/>
          <p:nvPr/>
        </p:nvSpPr>
        <p:spPr>
          <a:xfrm>
            <a:off x="5281613" y="3643313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Avtonom jamiyat</a:t>
            </a:r>
            <a:endParaRPr lang="en-US" sz="1100" dirty="0"/>
          </a:p>
        </p:txBody>
      </p:sp>
      <p:sp>
        <p:nvSpPr>
          <p:cNvPr id="29" name="Text 8"/>
          <p:cNvSpPr/>
          <p:nvPr/>
        </p:nvSpPr>
        <p:spPr>
          <a:xfrm>
            <a:off x="4772025" y="3910013"/>
            <a:ext cx="2647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Favqulodda vaziyatlarni boshqarish (1-2 daraja)</a:t>
            </a:r>
            <a:endParaRPr lang="en-US" sz="700" dirty="0"/>
          </a:p>
        </p:txBody>
      </p:sp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00750" y="4171950"/>
            <a:ext cx="190500" cy="190500"/>
          </a:xfrm>
          <a:prstGeom prst="rect">
            <a:avLst/>
          </a:prstGeom>
        </p:spPr>
      </p:pic>
      <p:sp>
        <p:nvSpPr>
          <p:cNvPr id="31" name="Text 9"/>
          <p:cNvSpPr/>
          <p:nvPr/>
        </p:nvSpPr>
        <p:spPr>
          <a:xfrm>
            <a:off x="5448300" y="4467225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Mahalliy Daraja</a:t>
            </a:r>
            <a:endParaRPr lang="en-US" sz="800" dirty="0"/>
          </a:p>
        </p:txBody>
      </p:sp>
      <p:sp>
        <p:nvSpPr>
          <p:cNvPr id="32" name="Text 10"/>
          <p:cNvSpPr/>
          <p:nvPr/>
        </p:nvSpPr>
        <p:spPr>
          <a:xfrm>
            <a:off x="5395913" y="4657725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Munitsipalitetlar</a:t>
            </a:r>
            <a:endParaRPr lang="en-US" sz="1100" dirty="0"/>
          </a:p>
        </p:txBody>
      </p:sp>
      <p:sp>
        <p:nvSpPr>
          <p:cNvPr id="33" name="Text 11"/>
          <p:cNvSpPr/>
          <p:nvPr/>
        </p:nvSpPr>
        <p:spPr>
          <a:xfrm>
            <a:off x="4929188" y="4924425"/>
            <a:ext cx="2333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Birinchi javob beruvchilar, mahalliy rejalalar</a:t>
            </a:r>
            <a:endParaRPr lang="en-US" sz="700" dirty="0"/>
          </a:p>
        </p:txBody>
      </p:sp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" y="5543550"/>
            <a:ext cx="171450" cy="161925"/>
          </a:xfrm>
          <a:prstGeom prst="rect">
            <a:avLst/>
          </a:prstGeom>
        </p:spPr>
      </p:pic>
      <p:sp>
        <p:nvSpPr>
          <p:cNvPr id="35" name="Text 12"/>
          <p:cNvSpPr/>
          <p:nvPr/>
        </p:nvSpPr>
        <p:spPr>
          <a:xfrm>
            <a:off x="1266825" y="54578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DGPCE</a:t>
            </a:r>
            <a:endParaRPr lang="en-US" sz="900" dirty="0"/>
          </a:p>
        </p:txBody>
      </p:sp>
      <p:sp>
        <p:nvSpPr>
          <p:cNvPr id="36" name="Text 13"/>
          <p:cNvSpPr/>
          <p:nvPr/>
        </p:nvSpPr>
        <p:spPr>
          <a:xfrm>
            <a:off x="1266825" y="5648325"/>
            <a:ext cx="857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Bosh boshqarma</a:t>
            </a:r>
            <a:endParaRPr lang="en-US" sz="700" dirty="0"/>
          </a:p>
        </p:txBody>
      </p:sp>
      <p:pic>
        <p:nvPicPr>
          <p:cNvPr id="3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0" y="5543550"/>
            <a:ext cx="171450" cy="161925"/>
          </a:xfrm>
          <a:prstGeom prst="rect">
            <a:avLst/>
          </a:prstGeom>
        </p:spPr>
      </p:pic>
      <p:sp>
        <p:nvSpPr>
          <p:cNvPr id="38" name="Text 14"/>
          <p:cNvSpPr/>
          <p:nvPr/>
        </p:nvSpPr>
        <p:spPr>
          <a:xfrm>
            <a:off x="5000625" y="5457825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UME</a:t>
            </a:r>
            <a:endParaRPr lang="en-US" sz="900" dirty="0"/>
          </a:p>
        </p:txBody>
      </p:sp>
      <p:sp>
        <p:nvSpPr>
          <p:cNvPr id="39" name="Text 15"/>
          <p:cNvSpPr/>
          <p:nvPr/>
        </p:nvSpPr>
        <p:spPr>
          <a:xfrm>
            <a:off x="5000625" y="5648325"/>
            <a:ext cx="7810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Harbiy bo'linma</a:t>
            </a:r>
            <a:endParaRPr lang="en-US" sz="700" dirty="0"/>
          </a:p>
        </p:txBody>
      </p:sp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96275" y="5543550"/>
            <a:ext cx="190500" cy="161925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8734425" y="54578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Milliy Kengash</a:t>
            </a:r>
            <a:endParaRPr lang="en-US" sz="900" dirty="0"/>
          </a:p>
        </p:txBody>
      </p:sp>
      <p:sp>
        <p:nvSpPr>
          <p:cNvPr id="42" name="Text 17"/>
          <p:cNvSpPr/>
          <p:nvPr/>
        </p:nvSpPr>
        <p:spPr>
          <a:xfrm>
            <a:off x="8734425" y="5648325"/>
            <a:ext cx="1038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Hamkorlik organi</a:t>
            </a:r>
            <a:endParaRPr lang="en-US" sz="700" dirty="0"/>
          </a:p>
        </p:txBody>
      </p:sp>
      <p:sp>
        <p:nvSpPr>
          <p:cNvPr id="43" name="Text 18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44" name="Text 19"/>
          <p:cNvSpPr/>
          <p:nvPr/>
        </p:nvSpPr>
        <p:spPr>
          <a:xfrm>
            <a:off x="11439525" y="638175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267825" y="123825"/>
            <a:ext cx="2228850" cy="22288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162050"/>
            <a:ext cx="7810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581150"/>
            <a:ext cx="5419725" cy="45624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428875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67025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305175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886200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324350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4762500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6975" y="1581150"/>
            <a:ext cx="5419725" cy="45624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0" y="2428875"/>
            <a:ext cx="285750" cy="2857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3009900"/>
            <a:ext cx="285750" cy="285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3448050"/>
            <a:ext cx="285750" cy="2857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0" y="3886200"/>
            <a:ext cx="285750" cy="2857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0" y="4324350"/>
            <a:ext cx="285750" cy="285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72250" y="4762500"/>
            <a:ext cx="285750" cy="2857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1500" y="571500"/>
            <a:ext cx="1104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ISPANIYA: Tizimning kuchli va zaif tomonlari</a:t>
            </a:r>
            <a:endParaRPr lang="en-US" sz="3100" dirty="0"/>
          </a:p>
        </p:txBody>
      </p:sp>
      <p:pic>
        <p:nvPicPr>
          <p:cNvPr id="2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250" y="1914525"/>
            <a:ext cx="247650" cy="24765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1209675" y="1885950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Kuchli tomonlar</a:t>
            </a:r>
            <a:endParaRPr lang="en-US" sz="1700" dirty="0"/>
          </a:p>
        </p:txBody>
      </p:sp>
      <p:pic>
        <p:nvPicPr>
          <p:cNvPr id="2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4875" y="2495550"/>
            <a:ext cx="190500" cy="152400"/>
          </a:xfrm>
          <a:prstGeom prst="rect">
            <a:avLst/>
          </a:prstGeom>
        </p:spPr>
      </p:pic>
      <p:sp>
        <p:nvSpPr>
          <p:cNvPr id="25" name="Text 2"/>
          <p:cNvSpPr/>
          <p:nvPr/>
        </p:nvSpPr>
        <p:spPr>
          <a:xfrm>
            <a:off x="1247775" y="2419350"/>
            <a:ext cx="4019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Qonunchilik bazasi rivojlangan (Law 17/2015, RD 524/2023)</a:t>
            </a:r>
            <a:endParaRPr lang="en-US" sz="1000" dirty="0"/>
          </a:p>
        </p:txBody>
      </p:sp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" y="2933700"/>
            <a:ext cx="152400" cy="152400"/>
          </a:xfrm>
          <a:prstGeom prst="rect">
            <a:avLst/>
          </a:prstGeom>
        </p:spPr>
      </p:pic>
      <p:sp>
        <p:nvSpPr>
          <p:cNvPr id="27" name="Text 3"/>
          <p:cNvSpPr/>
          <p:nvPr/>
        </p:nvSpPr>
        <p:spPr>
          <a:xfrm>
            <a:off x="1247775" y="2857500"/>
            <a:ext cx="4133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 xizmati — yagona favqulodda qo'ng'iroq markazi (24/7)</a:t>
            </a:r>
            <a:endParaRPr lang="en-US" sz="1000" dirty="0"/>
          </a:p>
        </p:txBody>
      </p:sp>
      <p:pic>
        <p:nvPicPr>
          <p:cNvPr id="2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3371850"/>
            <a:ext cx="171450" cy="152400"/>
          </a:xfrm>
          <a:prstGeom prst="rect">
            <a:avLst/>
          </a:prstGeom>
        </p:spPr>
      </p:pic>
      <p:sp>
        <p:nvSpPr>
          <p:cNvPr id="29" name="Text 4"/>
          <p:cNvSpPr/>
          <p:nvPr/>
        </p:nvSpPr>
        <p:spPr>
          <a:xfrm>
            <a:off x="1247775" y="3295650"/>
            <a:ext cx="4362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 — Cell Broadcast texnologiyasi asosidagi ogohlantirish tizimi</a:t>
            </a:r>
            <a:endParaRPr lang="en-US" sz="1000" dirty="0"/>
          </a:p>
        </p:txBody>
      </p:sp>
      <p:pic>
        <p:nvPicPr>
          <p:cNvPr id="3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3925" y="3952875"/>
            <a:ext cx="152400" cy="152400"/>
          </a:xfrm>
          <a:prstGeom prst="rect">
            <a:avLst/>
          </a:prstGeom>
        </p:spPr>
      </p:pic>
      <p:sp>
        <p:nvSpPr>
          <p:cNvPr id="31" name="Text 5"/>
          <p:cNvSpPr/>
          <p:nvPr/>
        </p:nvSpPr>
        <p:spPr>
          <a:xfrm>
            <a:off x="1247775" y="3876675"/>
            <a:ext cx="28670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UME — tezkor harbiy aralashuv imkoniyati</a:t>
            </a:r>
            <a:endParaRPr lang="en-US" sz="1000" dirty="0"/>
          </a:p>
        </p:txBody>
      </p:sp>
      <p:pic>
        <p:nvPicPr>
          <p:cNvPr id="3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3925" y="4391025"/>
            <a:ext cx="152400" cy="152400"/>
          </a:xfrm>
          <a:prstGeom prst="rect">
            <a:avLst/>
          </a:prstGeom>
        </p:spPr>
      </p:pic>
      <p:sp>
        <p:nvSpPr>
          <p:cNvPr id="33" name="Text 6"/>
          <p:cNvSpPr/>
          <p:nvPr/>
        </p:nvSpPr>
        <p:spPr>
          <a:xfrm>
            <a:off x="1247775" y="4314825"/>
            <a:ext cx="3695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Civil Protection Mechanism orqali xalqaro yordam</a:t>
            </a:r>
            <a:endParaRPr lang="en-US" sz="1000" dirty="0"/>
          </a:p>
        </p:txBody>
      </p:sp>
      <p:pic>
        <p:nvPicPr>
          <p:cNvPr id="3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3925" y="4829175"/>
            <a:ext cx="152400" cy="152400"/>
          </a:xfrm>
          <a:prstGeom prst="rect">
            <a:avLst/>
          </a:prstGeom>
        </p:spPr>
      </p:pic>
      <p:sp>
        <p:nvSpPr>
          <p:cNvPr id="35" name="Text 7"/>
          <p:cNvSpPr/>
          <p:nvPr/>
        </p:nvSpPr>
        <p:spPr>
          <a:xfrm>
            <a:off x="1247775" y="4752975"/>
            <a:ext cx="28479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Ilmiy-tadqiqot bazasi kuchli (AEMET, IGN)</a:t>
            </a:r>
            <a:endParaRPr lang="en-US" sz="1000" dirty="0"/>
          </a:p>
        </p:txBody>
      </p:sp>
      <p:pic>
        <p:nvPicPr>
          <p:cNvPr id="3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72250" y="1914525"/>
            <a:ext cx="247650" cy="247650"/>
          </a:xfrm>
          <a:prstGeom prst="rect">
            <a:avLst/>
          </a:prstGeom>
        </p:spPr>
      </p:pic>
      <p:sp>
        <p:nvSpPr>
          <p:cNvPr id="37" name="Text 8"/>
          <p:cNvSpPr/>
          <p:nvPr/>
        </p:nvSpPr>
        <p:spPr>
          <a:xfrm>
            <a:off x="6924675" y="188595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Zaif tomonlar</a:t>
            </a:r>
            <a:endParaRPr lang="en-US" sz="1700" dirty="0"/>
          </a:p>
        </p:txBody>
      </p:sp>
      <p:pic>
        <p:nvPicPr>
          <p:cNvPr id="3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38925" y="2495550"/>
            <a:ext cx="152400" cy="152400"/>
          </a:xfrm>
          <a:prstGeom prst="rect">
            <a:avLst/>
          </a:prstGeom>
        </p:spPr>
      </p:pic>
      <p:sp>
        <p:nvSpPr>
          <p:cNvPr id="39" name="Text 9"/>
          <p:cNvSpPr/>
          <p:nvPr/>
        </p:nvSpPr>
        <p:spPr>
          <a:xfrm>
            <a:off x="6962775" y="2419350"/>
            <a:ext cx="4362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Hududlar o'rtasida koordinatsiya muammolari (2024 DANA fojiasi)</a:t>
            </a:r>
            <a:endParaRPr lang="en-US" sz="1000" dirty="0"/>
          </a:p>
        </p:txBody>
      </p:sp>
      <p:pic>
        <p:nvPicPr>
          <p:cNvPr id="4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38925" y="3076575"/>
            <a:ext cx="152400" cy="152400"/>
          </a:xfrm>
          <a:prstGeom prst="rect">
            <a:avLst/>
          </a:prstGeom>
        </p:spPr>
      </p:pic>
      <p:sp>
        <p:nvSpPr>
          <p:cNvPr id="41" name="Text 10"/>
          <p:cNvSpPr/>
          <p:nvPr/>
        </p:nvSpPr>
        <p:spPr>
          <a:xfrm>
            <a:off x="6962775" y="3000375"/>
            <a:ext cx="4362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Markaziy va hududiy hokimiyat o'rtasida vakolatlar chalkashligi</a:t>
            </a:r>
            <a:endParaRPr lang="en-US" sz="1000" dirty="0"/>
          </a:p>
        </p:txBody>
      </p:sp>
      <p:pic>
        <p:nvPicPr>
          <p:cNvPr id="4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38925" y="3514725"/>
            <a:ext cx="152400" cy="152400"/>
          </a:xfrm>
          <a:prstGeom prst="rect">
            <a:avLst/>
          </a:prstGeom>
        </p:spPr>
      </p:pic>
      <p:sp>
        <p:nvSpPr>
          <p:cNvPr id="43" name="Text 11"/>
          <p:cNvSpPr/>
          <p:nvPr/>
        </p:nvSpPr>
        <p:spPr>
          <a:xfrm>
            <a:off x="6962775" y="3438525"/>
            <a:ext cx="3590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3-daraja (Milliy ahamiyat) e'lon qilishda kechikishlar</a:t>
            </a:r>
            <a:endParaRPr lang="en-US" sz="1000" dirty="0"/>
          </a:p>
        </p:txBody>
      </p:sp>
      <p:pic>
        <p:nvPicPr>
          <p:cNvPr id="44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19875" y="3952875"/>
            <a:ext cx="190500" cy="152400"/>
          </a:xfrm>
          <a:prstGeom prst="rect">
            <a:avLst/>
          </a:prstGeom>
        </p:spPr>
      </p:pic>
      <p:sp>
        <p:nvSpPr>
          <p:cNvPr id="45" name="Text 12"/>
          <p:cNvSpPr/>
          <p:nvPr/>
        </p:nvSpPr>
        <p:spPr>
          <a:xfrm>
            <a:off x="6962775" y="3876675"/>
            <a:ext cx="3267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 tizimining vaqti-vaqtida ishlatilmasligi</a:t>
            </a:r>
            <a:endParaRPr lang="en-US" sz="1000" dirty="0"/>
          </a:p>
        </p:txBody>
      </p:sp>
      <p:pic>
        <p:nvPicPr>
          <p:cNvPr id="4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48450" y="4391025"/>
            <a:ext cx="133350" cy="152400"/>
          </a:xfrm>
          <a:prstGeom prst="rect">
            <a:avLst/>
          </a:prstGeom>
        </p:spPr>
      </p:pic>
      <p:sp>
        <p:nvSpPr>
          <p:cNvPr id="47" name="Text 13"/>
          <p:cNvSpPr/>
          <p:nvPr/>
        </p:nvSpPr>
        <p:spPr>
          <a:xfrm>
            <a:off x="6962775" y="4314825"/>
            <a:ext cx="41433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Byurokratik to'siqlar — tezkor qaror qabul qilish sekinlashadi</a:t>
            </a:r>
            <a:endParaRPr lang="en-US" sz="1000" dirty="0"/>
          </a:p>
        </p:txBody>
      </p:sp>
      <p:pic>
        <p:nvPicPr>
          <p:cNvPr id="4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19875" y="4829175"/>
            <a:ext cx="190500" cy="152400"/>
          </a:xfrm>
          <a:prstGeom prst="rect">
            <a:avLst/>
          </a:prstGeom>
        </p:spPr>
      </p:pic>
      <p:sp>
        <p:nvSpPr>
          <p:cNvPr id="49" name="Text 14"/>
          <p:cNvSpPr/>
          <p:nvPr/>
        </p:nvSpPr>
        <p:spPr>
          <a:xfrm>
            <a:off x="6962775" y="4752975"/>
            <a:ext cx="27813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Qishloq joylarda aholi tayyorgarligi past</a:t>
            </a:r>
            <a:endParaRPr lang="en-US" sz="1000" dirty="0"/>
          </a:p>
        </p:txBody>
      </p:sp>
      <p:sp>
        <p:nvSpPr>
          <p:cNvPr id="50" name="Text 15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51" name="Text 16"/>
          <p:cNvSpPr/>
          <p:nvPr/>
        </p:nvSpPr>
        <p:spPr>
          <a:xfrm>
            <a:off x="11439525" y="638175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267825" y="123825"/>
            <a:ext cx="2228850" cy="22288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685925"/>
            <a:ext cx="7810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952625"/>
            <a:ext cx="3562350" cy="9334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4825" y="1952625"/>
            <a:ext cx="3562350" cy="933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675" y="1952625"/>
            <a:ext cx="3562350" cy="933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3095625"/>
            <a:ext cx="5495925" cy="15144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714750"/>
            <a:ext cx="247650" cy="2476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3275" y="3714750"/>
            <a:ext cx="247650" cy="2476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019550"/>
            <a:ext cx="247650" cy="247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3275" y="4019550"/>
            <a:ext cx="247650" cy="2476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0775" y="3095625"/>
            <a:ext cx="5495925" cy="15144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714750"/>
            <a:ext cx="247650" cy="2476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4019550"/>
            <a:ext cx="247650" cy="247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2625" y="4752975"/>
            <a:ext cx="5867400" cy="13144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1500" y="571500"/>
            <a:ext cx="1104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QONUNCHILIK TAHLILI: Ispaniya va xalqaro standartlar</a:t>
            </a:r>
            <a:endParaRPr lang="en-US" sz="3100" dirty="0"/>
          </a:p>
        </p:txBody>
      </p:sp>
      <p:pic>
        <p:nvPicPr>
          <p:cNvPr id="2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4375" y="2124075"/>
            <a:ext cx="133350" cy="171450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914400" y="21145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Law 17/2015</a:t>
            </a:r>
            <a:endParaRPr lang="en-US" sz="900" dirty="0"/>
          </a:p>
        </p:txBody>
      </p:sp>
      <p:sp>
        <p:nvSpPr>
          <p:cNvPr id="22" name="Text 2"/>
          <p:cNvSpPr/>
          <p:nvPr/>
        </p:nvSpPr>
        <p:spPr>
          <a:xfrm>
            <a:off x="723900" y="2381250"/>
            <a:ext cx="32307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Fuqarolarni himoya qilishni xavfsizlik siyosati sifatida belgilaydi</a:t>
            </a:r>
            <a:endParaRPr lang="en-US" sz="800" dirty="0"/>
          </a:p>
        </p:txBody>
      </p:sp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67225" y="2124075"/>
            <a:ext cx="200025" cy="171450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4728270" y="21145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Royal Decree 524/2023</a:t>
            </a:r>
            <a:endParaRPr lang="en-US" sz="900" dirty="0"/>
          </a:p>
        </p:txBody>
      </p:sp>
      <p:sp>
        <p:nvSpPr>
          <p:cNvPr id="25" name="Text 4"/>
          <p:cNvSpPr/>
          <p:nvPr/>
        </p:nvSpPr>
        <p:spPr>
          <a:xfrm>
            <a:off x="4480620" y="2381250"/>
            <a:ext cx="32307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Favqulodda vaziyatlarning operatsion bosqichlarini aniqlaydi</a:t>
            </a:r>
            <a:endParaRPr lang="en-US" sz="800" dirty="0"/>
          </a:p>
        </p:txBody>
      </p:sp>
      <p:pic>
        <p:nvPicPr>
          <p:cNvPr id="2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0075" y="2124075"/>
            <a:ext cx="161925" cy="171450"/>
          </a:xfrm>
          <a:prstGeom prst="rect">
            <a:avLst/>
          </a:prstGeom>
        </p:spPr>
      </p:pic>
      <p:sp>
        <p:nvSpPr>
          <p:cNvPr id="27" name="Text 5"/>
          <p:cNvSpPr/>
          <p:nvPr/>
        </p:nvSpPr>
        <p:spPr>
          <a:xfrm>
            <a:off x="8446889" y="21145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2024</a:t>
            </a:r>
            <a:endParaRPr lang="en-US" sz="900" dirty="0"/>
          </a:p>
        </p:txBody>
      </p:sp>
      <p:sp>
        <p:nvSpPr>
          <p:cNvPr id="28" name="Text 6"/>
          <p:cNvSpPr/>
          <p:nvPr/>
        </p:nvSpPr>
        <p:spPr>
          <a:xfrm>
            <a:off x="8237339" y="2381250"/>
            <a:ext cx="32307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Iqlim o'zgarishi va demografik o'zgarishlarga javob</a:t>
            </a:r>
            <a:endParaRPr lang="en-US" sz="800" dirty="0"/>
          </a:p>
        </p:txBody>
      </p:sp>
      <p:pic>
        <p:nvPicPr>
          <p:cNvPr id="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3333750"/>
            <a:ext cx="257175" cy="209550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1123950" y="3305175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Fuqarolarning huquqlari</a:t>
            </a:r>
            <a:endParaRPr lang="en-US" sz="1200" dirty="0"/>
          </a:p>
        </p:txBody>
      </p:sp>
      <p:pic>
        <p:nvPicPr>
          <p:cNvPr id="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" y="3781425"/>
            <a:ext cx="114300" cy="114300"/>
          </a:xfrm>
          <a:prstGeom prst="rect">
            <a:avLst/>
          </a:prstGeom>
        </p:spPr>
      </p:pic>
      <p:sp>
        <p:nvSpPr>
          <p:cNvPr id="32" name="Text 8"/>
          <p:cNvSpPr/>
          <p:nvPr/>
        </p:nvSpPr>
        <p:spPr>
          <a:xfrm>
            <a:off x="1095375" y="3724275"/>
            <a:ext cx="5524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Xavfsizlik</a:t>
            </a:r>
            <a:endParaRPr lang="en-US" sz="900" dirty="0"/>
          </a:p>
        </p:txBody>
      </p:sp>
      <p:pic>
        <p:nvPicPr>
          <p:cNvPr id="3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09950" y="3781425"/>
            <a:ext cx="114300" cy="114300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3676650" y="3724275"/>
            <a:ext cx="8858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Ma'lumot olish</a:t>
            </a:r>
            <a:endParaRPr lang="en-US" sz="900" dirty="0"/>
          </a:p>
        </p:txBody>
      </p:sp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8675" y="4086225"/>
            <a:ext cx="114300" cy="114300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1095375" y="4029075"/>
            <a:ext cx="7334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Evakuatsiya</a:t>
            </a:r>
            <a:endParaRPr lang="en-US" sz="9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09950" y="4086225"/>
            <a:ext cx="114300" cy="114300"/>
          </a:xfrm>
          <a:prstGeom prst="rect">
            <a:avLst/>
          </a:prstGeom>
        </p:spPr>
      </p:pic>
      <p:sp>
        <p:nvSpPr>
          <p:cNvPr id="38" name="Text 11"/>
          <p:cNvSpPr/>
          <p:nvPr/>
        </p:nvSpPr>
        <p:spPr>
          <a:xfrm>
            <a:off x="3676650" y="4029075"/>
            <a:ext cx="9429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Davlat yordami</a:t>
            </a:r>
            <a:endParaRPr lang="en-US" sz="900" dirty="0"/>
          </a:p>
        </p:txBody>
      </p:sp>
      <p:pic>
        <p:nvPicPr>
          <p:cNvPr id="3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3333750"/>
            <a:ext cx="161925" cy="209550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6667500" y="3305175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Fuqarolarning majburiyatlari</a:t>
            </a:r>
            <a:endParaRPr lang="en-US" sz="1200" dirty="0"/>
          </a:p>
        </p:txBody>
      </p:sp>
      <p:pic>
        <p:nvPicPr>
          <p:cNvPr id="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67475" y="3781425"/>
            <a:ext cx="114300" cy="114300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>
            <a:off x="6734175" y="3724275"/>
            <a:ext cx="1190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Tayyorgarlik ko'rish</a:t>
            </a:r>
            <a:endParaRPr lang="en-US" sz="900" dirty="0"/>
          </a:p>
        </p:txBody>
      </p:sp>
      <p:pic>
        <p:nvPicPr>
          <p:cNvPr id="4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67475" y="4086225"/>
            <a:ext cx="114300" cy="114300"/>
          </a:xfrm>
          <a:prstGeom prst="rect">
            <a:avLst/>
          </a:prstGeom>
        </p:spPr>
      </p:pic>
      <p:sp>
        <p:nvSpPr>
          <p:cNvPr id="44" name="Text 14"/>
          <p:cNvSpPr/>
          <p:nvPr/>
        </p:nvSpPr>
        <p:spPr>
          <a:xfrm>
            <a:off x="6734175" y="4029075"/>
            <a:ext cx="1657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Ko'rsatmalarga rioya qilish</a:t>
            </a:r>
            <a:endParaRPr lang="en-US" sz="900" dirty="0"/>
          </a:p>
        </p:txBody>
      </p:sp>
      <p:sp>
        <p:nvSpPr>
          <p:cNvPr id="45" name="Text 15"/>
          <p:cNvSpPr/>
          <p:nvPr/>
        </p:nvSpPr>
        <p:spPr>
          <a:xfrm>
            <a:off x="571500" y="4762500"/>
            <a:ext cx="497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Ekologik qonunchilik</a:t>
            </a:r>
            <a:endParaRPr lang="en-US" sz="900" dirty="0"/>
          </a:p>
        </p:txBody>
      </p:sp>
      <p:sp>
        <p:nvSpPr>
          <p:cNvPr id="46" name="Text 16"/>
          <p:cNvSpPr/>
          <p:nvPr/>
        </p:nvSpPr>
        <p:spPr>
          <a:xfrm>
            <a:off x="571500" y="5029200"/>
            <a:ext cx="4972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Change Law, PNIEC 2023-2030</a:t>
            </a:r>
            <a:endParaRPr lang="en-US" sz="800" dirty="0"/>
          </a:p>
        </p:txBody>
      </p:sp>
      <p:sp>
        <p:nvSpPr>
          <p:cNvPr id="47" name="Text 17"/>
          <p:cNvSpPr/>
          <p:nvPr/>
        </p:nvSpPr>
        <p:spPr>
          <a:xfrm>
            <a:off x="571500" y="5353050"/>
            <a:ext cx="497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standartlari ta'siri</a:t>
            </a:r>
            <a:endParaRPr lang="en-US" sz="900" dirty="0"/>
          </a:p>
        </p:txBody>
      </p:sp>
      <p:sp>
        <p:nvSpPr>
          <p:cNvPr id="48" name="Text 18"/>
          <p:cNvSpPr/>
          <p:nvPr/>
        </p:nvSpPr>
        <p:spPr>
          <a:xfrm>
            <a:off x="571500" y="5619750"/>
            <a:ext cx="4972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for 55, EU Green Deal, Water Framework Directive</a:t>
            </a:r>
            <a:endParaRPr lang="en-US" sz="800" dirty="0"/>
          </a:p>
        </p:txBody>
      </p:sp>
      <p:pic>
        <p:nvPicPr>
          <p:cNvPr id="4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00750" y="4914900"/>
            <a:ext cx="171450" cy="171450"/>
          </a:xfrm>
          <a:prstGeom prst="rect">
            <a:avLst/>
          </a:prstGeom>
        </p:spPr>
      </p:pic>
      <p:sp>
        <p:nvSpPr>
          <p:cNvPr id="50" name="Text 19"/>
          <p:cNvSpPr/>
          <p:nvPr/>
        </p:nvSpPr>
        <p:spPr>
          <a:xfrm>
            <a:off x="6276975" y="4905375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Tanqidiy yondashuv</a:t>
            </a:r>
            <a:endParaRPr lang="en-US" sz="900" dirty="0"/>
          </a:p>
        </p:txBody>
      </p:sp>
      <p:sp>
        <p:nvSpPr>
          <p:cNvPr id="51" name="Text 20"/>
          <p:cNvSpPr/>
          <p:nvPr/>
        </p:nvSpPr>
        <p:spPr>
          <a:xfrm>
            <a:off x="6162675" y="5172075"/>
            <a:ext cx="5219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Qonunlar mukammal, ammo amaliy samaradorlik past</a:t>
            </a:r>
            <a:endParaRPr lang="en-US" sz="700" dirty="0"/>
          </a:p>
        </p:txBody>
      </p:sp>
      <p:sp>
        <p:nvSpPr>
          <p:cNvPr id="52" name="Text 21"/>
          <p:cNvSpPr/>
          <p:nvPr/>
        </p:nvSpPr>
        <p:spPr>
          <a:xfrm>
            <a:off x="6162675" y="5367338"/>
            <a:ext cx="5219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Byurokratik jarayonlar tezkor javob berishga to'sqinlik qiladi</a:t>
            </a:r>
            <a:endParaRPr lang="en-US" sz="700" dirty="0"/>
          </a:p>
        </p:txBody>
      </p:sp>
      <p:sp>
        <p:nvSpPr>
          <p:cNvPr id="53" name="Text 22"/>
          <p:cNvSpPr/>
          <p:nvPr/>
        </p:nvSpPr>
        <p:spPr>
          <a:xfrm>
            <a:off x="6162675" y="5562600"/>
            <a:ext cx="5219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Avtonom hududlar o'rtasida qonunchilik farqlari mavjud</a:t>
            </a:r>
            <a:endParaRPr lang="en-US" sz="700" dirty="0"/>
          </a:p>
        </p:txBody>
      </p:sp>
      <p:sp>
        <p:nvSpPr>
          <p:cNvPr id="54" name="Text 23"/>
          <p:cNvSpPr/>
          <p:nvPr/>
        </p:nvSpPr>
        <p:spPr>
          <a:xfrm>
            <a:off x="6162675" y="5757863"/>
            <a:ext cx="5219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 protokollari aniq emas — kim va qachon ogohlantirish yuborishi</a:t>
            </a:r>
            <a:endParaRPr lang="en-US" sz="700" dirty="0"/>
          </a:p>
        </p:txBody>
      </p:sp>
      <p:sp>
        <p:nvSpPr>
          <p:cNvPr id="55" name="Text 24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56" name="Text 25"/>
          <p:cNvSpPr/>
          <p:nvPr/>
        </p:nvSpPr>
        <p:spPr>
          <a:xfrm>
            <a:off x="11439525" y="638175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591675" y="1619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162050"/>
            <a:ext cx="7810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428750"/>
            <a:ext cx="11134725" cy="22193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62175"/>
            <a:ext cx="11049000" cy="3714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57500"/>
            <a:ext cx="11049000" cy="3714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3714750"/>
            <a:ext cx="6276975" cy="22764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825" y="4133850"/>
            <a:ext cx="4648200" cy="514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825" y="4743450"/>
            <a:ext cx="4648200" cy="514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1825" y="5353050"/>
            <a:ext cx="4648200" cy="3619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571500"/>
            <a:ext cx="1104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XAVFLAR VA AVARIYALAR Statistika</a:t>
            </a:r>
            <a:endParaRPr lang="en-US" sz="3100" dirty="0"/>
          </a:p>
        </p:txBody>
      </p:sp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1438275"/>
            <a:ext cx="809625" cy="40005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676275" y="1543050"/>
            <a:ext cx="5972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Yil</a:t>
            </a:r>
            <a:endParaRPr lang="en-US" sz="900" dirty="0"/>
          </a:p>
        </p:txBody>
      </p:sp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2550" y="1438275"/>
            <a:ext cx="2581275" cy="400050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1464022" y="1543050"/>
            <a:ext cx="235922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Asosiy voqea</a:t>
            </a:r>
            <a:endParaRPr lang="en-US" sz="900" dirty="0"/>
          </a:p>
        </p:txBody>
      </p:sp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05250" y="1438275"/>
            <a:ext cx="2143125" cy="400050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4013746" y="1543050"/>
            <a:ext cx="19294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Suv toshqini o'limi</a:t>
            </a:r>
            <a:endParaRPr lang="en-US" sz="900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19800" y="1438275"/>
            <a:ext cx="2524125" cy="400050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6133654" y="1543050"/>
            <a:ext cx="23019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Yong'in maydoni (ga)</a:t>
            </a:r>
            <a:endParaRPr lang="en-US" sz="900" dirty="0"/>
          </a:p>
        </p:txBody>
      </p:sp>
      <p:pic>
        <p:nvPicPr>
          <p:cNvPr id="2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15350" y="1438275"/>
            <a:ext cx="1647825" cy="400050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8626078" y="1543050"/>
            <a:ext cx="14281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Yong'in o'limi</a:t>
            </a:r>
            <a:endParaRPr lang="en-US" sz="900" dirty="0"/>
          </a:p>
        </p:txBody>
      </p:sp>
      <p:pic>
        <p:nvPicPr>
          <p:cNvPr id="2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34600" y="1438275"/>
            <a:ext cx="1485900" cy="400050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10244733" y="1543050"/>
            <a:ext cx="12709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Zilzila o'limi</a:t>
            </a:r>
            <a:endParaRPr lang="en-US" sz="900" dirty="0"/>
          </a:p>
        </p:txBody>
      </p:sp>
      <p:pic>
        <p:nvPicPr>
          <p:cNvPr id="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1809750"/>
            <a:ext cx="809625" cy="371475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676275" y="1900238"/>
            <a:ext cx="59724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900" dirty="0"/>
          </a:p>
        </p:txBody>
      </p:sp>
      <p:pic>
        <p:nvPicPr>
          <p:cNvPr id="2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52550" y="1809750"/>
            <a:ext cx="2581275" cy="371475"/>
          </a:xfrm>
          <a:prstGeom prst="rect">
            <a:avLst/>
          </a:prstGeom>
        </p:spPr>
      </p:pic>
      <p:sp>
        <p:nvSpPr>
          <p:cNvPr id="30" name="Text 8"/>
          <p:cNvSpPr/>
          <p:nvPr/>
        </p:nvSpPr>
        <p:spPr>
          <a:xfrm>
            <a:off x="1464022" y="1900238"/>
            <a:ext cx="235922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DANA (Valensiya)</a:t>
            </a:r>
            <a:endParaRPr lang="en-US" sz="900" dirty="0"/>
          </a:p>
        </p:txBody>
      </p:sp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05250" y="1809750"/>
            <a:ext cx="2143125" cy="371475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4013746" y="1900238"/>
            <a:ext cx="192940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~223-237</a:t>
            </a:r>
            <a:endParaRPr lang="en-US" sz="9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19800" y="1809750"/>
            <a:ext cx="2524125" cy="371475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6133654" y="1900238"/>
            <a:ext cx="23019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~47,711</a:t>
            </a:r>
            <a:endParaRPr lang="en-US" sz="900" dirty="0"/>
          </a:p>
        </p:txBody>
      </p:sp>
      <p:pic>
        <p:nvPicPr>
          <p:cNvPr id="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15350" y="1809750"/>
            <a:ext cx="1647825" cy="371475"/>
          </a:xfrm>
          <a:prstGeom prst="rect">
            <a:avLst/>
          </a:prstGeom>
        </p:spPr>
      </p:pic>
      <p:sp>
        <p:nvSpPr>
          <p:cNvPr id="36" name="Text 11"/>
          <p:cNvSpPr/>
          <p:nvPr/>
        </p:nvSpPr>
        <p:spPr>
          <a:xfrm>
            <a:off x="8626078" y="1900238"/>
            <a:ext cx="142815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pic>
        <p:nvPicPr>
          <p:cNvPr id="3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34600" y="1809750"/>
            <a:ext cx="1485900" cy="371475"/>
          </a:xfrm>
          <a:prstGeom prst="rect">
            <a:avLst/>
          </a:prstGeom>
        </p:spPr>
      </p:pic>
      <p:sp>
        <p:nvSpPr>
          <p:cNvPr id="38" name="Text 12"/>
          <p:cNvSpPr/>
          <p:nvPr/>
        </p:nvSpPr>
        <p:spPr>
          <a:xfrm>
            <a:off x="10244733" y="1900238"/>
            <a:ext cx="12709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900" dirty="0"/>
          </a:p>
        </p:txBody>
      </p:sp>
      <p:pic>
        <p:nvPicPr>
          <p:cNvPr id="3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2162175"/>
            <a:ext cx="809625" cy="371475"/>
          </a:xfrm>
          <a:prstGeom prst="rect">
            <a:avLst/>
          </a:prstGeom>
        </p:spPr>
      </p:pic>
      <p:sp>
        <p:nvSpPr>
          <p:cNvPr id="40" name="Text 13"/>
          <p:cNvSpPr/>
          <p:nvPr/>
        </p:nvSpPr>
        <p:spPr>
          <a:xfrm>
            <a:off x="676275" y="2247900"/>
            <a:ext cx="59724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900" dirty="0"/>
          </a:p>
        </p:txBody>
      </p:sp>
      <p:pic>
        <p:nvPicPr>
          <p:cNvPr id="4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52550" y="2162175"/>
            <a:ext cx="2581275" cy="371475"/>
          </a:xfrm>
          <a:prstGeom prst="rect">
            <a:avLst/>
          </a:prstGeom>
        </p:spPr>
      </p:pic>
      <p:sp>
        <p:nvSpPr>
          <p:cNvPr id="42" name="Text 14"/>
          <p:cNvSpPr/>
          <p:nvPr/>
        </p:nvSpPr>
        <p:spPr>
          <a:xfrm>
            <a:off x="1464022" y="2247900"/>
            <a:ext cx="235922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Sentabr DANA</a:t>
            </a:r>
            <a:endParaRPr lang="en-US" sz="900" dirty="0"/>
          </a:p>
        </p:txBody>
      </p:sp>
      <p:pic>
        <p:nvPicPr>
          <p:cNvPr id="43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05250" y="2162175"/>
            <a:ext cx="2143125" cy="371475"/>
          </a:xfrm>
          <a:prstGeom prst="rect">
            <a:avLst/>
          </a:prstGeom>
        </p:spPr>
      </p:pic>
      <p:sp>
        <p:nvSpPr>
          <p:cNvPr id="44" name="Text 15"/>
          <p:cNvSpPr/>
          <p:nvPr/>
        </p:nvSpPr>
        <p:spPr>
          <a:xfrm>
            <a:off x="4013746" y="2247900"/>
            <a:ext cx="192940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</a:t>
            </a:r>
            <a:endParaRPr lang="en-US" sz="900" dirty="0"/>
          </a:p>
        </p:txBody>
      </p:sp>
      <p:pic>
        <p:nvPicPr>
          <p:cNvPr id="4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19800" y="2162175"/>
            <a:ext cx="2524125" cy="371475"/>
          </a:xfrm>
          <a:prstGeom prst="rect">
            <a:avLst/>
          </a:prstGeom>
        </p:spPr>
      </p:pic>
      <p:sp>
        <p:nvSpPr>
          <p:cNvPr id="46" name="Text 16"/>
          <p:cNvSpPr/>
          <p:nvPr/>
        </p:nvSpPr>
        <p:spPr>
          <a:xfrm>
            <a:off x="6133654" y="2247900"/>
            <a:ext cx="23019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~89,136</a:t>
            </a:r>
            <a:endParaRPr lang="en-US" sz="900" dirty="0"/>
          </a:p>
        </p:txBody>
      </p:sp>
      <p:pic>
        <p:nvPicPr>
          <p:cNvPr id="4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15350" y="2162175"/>
            <a:ext cx="1647825" cy="371475"/>
          </a:xfrm>
          <a:prstGeom prst="rect">
            <a:avLst/>
          </a:prstGeom>
        </p:spPr>
      </p:pic>
      <p:sp>
        <p:nvSpPr>
          <p:cNvPr id="48" name="Text 17"/>
          <p:cNvSpPr/>
          <p:nvPr/>
        </p:nvSpPr>
        <p:spPr>
          <a:xfrm>
            <a:off x="8626078" y="2247900"/>
            <a:ext cx="142815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900" dirty="0"/>
          </a:p>
        </p:txBody>
      </p:sp>
      <p:pic>
        <p:nvPicPr>
          <p:cNvPr id="4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34600" y="2162175"/>
            <a:ext cx="1485900" cy="371475"/>
          </a:xfrm>
          <a:prstGeom prst="rect">
            <a:avLst/>
          </a:prstGeom>
        </p:spPr>
      </p:pic>
      <p:sp>
        <p:nvSpPr>
          <p:cNvPr id="50" name="Text 18"/>
          <p:cNvSpPr/>
          <p:nvPr/>
        </p:nvSpPr>
        <p:spPr>
          <a:xfrm>
            <a:off x="10244733" y="2247900"/>
            <a:ext cx="12709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900" dirty="0"/>
          </a:p>
        </p:txBody>
      </p:sp>
      <p:pic>
        <p:nvPicPr>
          <p:cNvPr id="5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2505075"/>
            <a:ext cx="809625" cy="371475"/>
          </a:xfrm>
          <a:prstGeom prst="rect">
            <a:avLst/>
          </a:prstGeom>
        </p:spPr>
      </p:pic>
      <p:sp>
        <p:nvSpPr>
          <p:cNvPr id="52" name="Text 19"/>
          <p:cNvSpPr/>
          <p:nvPr/>
        </p:nvSpPr>
        <p:spPr>
          <a:xfrm>
            <a:off x="676275" y="2595563"/>
            <a:ext cx="59724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900" dirty="0"/>
          </a:p>
        </p:txBody>
      </p:sp>
      <p:pic>
        <p:nvPicPr>
          <p:cNvPr id="5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52550" y="2505075"/>
            <a:ext cx="2581275" cy="371475"/>
          </a:xfrm>
          <a:prstGeom prst="rect">
            <a:avLst/>
          </a:prstGeom>
        </p:spPr>
      </p:pic>
      <p:sp>
        <p:nvSpPr>
          <p:cNvPr id="54" name="Text 20"/>
          <p:cNvSpPr/>
          <p:nvPr/>
        </p:nvSpPr>
        <p:spPr>
          <a:xfrm>
            <a:off x="1464022" y="2595563"/>
            <a:ext cx="235922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Issiq to'lqinlar/Yong'inlar</a:t>
            </a:r>
            <a:endParaRPr lang="en-US" sz="900" dirty="0"/>
          </a:p>
        </p:txBody>
      </p:sp>
      <p:pic>
        <p:nvPicPr>
          <p:cNvPr id="5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905250" y="2505075"/>
            <a:ext cx="2143125" cy="371475"/>
          </a:xfrm>
          <a:prstGeom prst="rect">
            <a:avLst/>
          </a:prstGeom>
        </p:spPr>
      </p:pic>
      <p:sp>
        <p:nvSpPr>
          <p:cNvPr id="56" name="Text 21"/>
          <p:cNvSpPr/>
          <p:nvPr/>
        </p:nvSpPr>
        <p:spPr>
          <a:xfrm>
            <a:off x="4013746" y="2595563"/>
            <a:ext cx="192940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900" dirty="0"/>
          </a:p>
        </p:txBody>
      </p:sp>
      <p:pic>
        <p:nvPicPr>
          <p:cNvPr id="57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19800" y="2505075"/>
            <a:ext cx="2524125" cy="371475"/>
          </a:xfrm>
          <a:prstGeom prst="rect">
            <a:avLst/>
          </a:prstGeom>
        </p:spPr>
      </p:pic>
      <p:sp>
        <p:nvSpPr>
          <p:cNvPr id="58" name="Text 22"/>
          <p:cNvSpPr/>
          <p:nvPr/>
        </p:nvSpPr>
        <p:spPr>
          <a:xfrm>
            <a:off x="6133654" y="2595563"/>
            <a:ext cx="23019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~306,555</a:t>
            </a:r>
            <a:endParaRPr lang="en-US" sz="900" dirty="0"/>
          </a:p>
        </p:txBody>
      </p:sp>
      <p:pic>
        <p:nvPicPr>
          <p:cNvPr id="59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15350" y="2505075"/>
            <a:ext cx="1647825" cy="371475"/>
          </a:xfrm>
          <a:prstGeom prst="rect">
            <a:avLst/>
          </a:prstGeom>
        </p:spPr>
      </p:pic>
      <p:sp>
        <p:nvSpPr>
          <p:cNvPr id="60" name="Text 23"/>
          <p:cNvSpPr/>
          <p:nvPr/>
        </p:nvSpPr>
        <p:spPr>
          <a:xfrm>
            <a:off x="8626078" y="2595563"/>
            <a:ext cx="142815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</a:t>
            </a:r>
            <a:endParaRPr lang="en-US" sz="900" dirty="0"/>
          </a:p>
        </p:txBody>
      </p:sp>
      <p:pic>
        <p:nvPicPr>
          <p:cNvPr id="6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134600" y="2505075"/>
            <a:ext cx="1485900" cy="371475"/>
          </a:xfrm>
          <a:prstGeom prst="rect">
            <a:avLst/>
          </a:prstGeom>
        </p:spPr>
      </p:pic>
      <p:sp>
        <p:nvSpPr>
          <p:cNvPr id="62" name="Text 24"/>
          <p:cNvSpPr/>
          <p:nvPr/>
        </p:nvSpPr>
        <p:spPr>
          <a:xfrm>
            <a:off x="10244733" y="2595563"/>
            <a:ext cx="12709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900" dirty="0"/>
          </a:p>
        </p:txBody>
      </p:sp>
      <p:pic>
        <p:nvPicPr>
          <p:cNvPr id="63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2857500"/>
            <a:ext cx="809625" cy="371475"/>
          </a:xfrm>
          <a:prstGeom prst="rect">
            <a:avLst/>
          </a:prstGeom>
        </p:spPr>
      </p:pic>
      <p:sp>
        <p:nvSpPr>
          <p:cNvPr id="64" name="Text 25"/>
          <p:cNvSpPr/>
          <p:nvPr/>
        </p:nvSpPr>
        <p:spPr>
          <a:xfrm>
            <a:off x="676275" y="2943225"/>
            <a:ext cx="59724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2021</a:t>
            </a:r>
            <a:endParaRPr lang="en-US" sz="900" dirty="0"/>
          </a:p>
        </p:txBody>
      </p:sp>
      <p:pic>
        <p:nvPicPr>
          <p:cNvPr id="65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352550" y="2857500"/>
            <a:ext cx="2581275" cy="371475"/>
          </a:xfrm>
          <a:prstGeom prst="rect">
            <a:avLst/>
          </a:prstGeom>
        </p:spPr>
      </p:pic>
      <p:sp>
        <p:nvSpPr>
          <p:cNvPr id="66" name="Text 26"/>
          <p:cNvSpPr/>
          <p:nvPr/>
        </p:nvSpPr>
        <p:spPr>
          <a:xfrm>
            <a:off x="1464022" y="2943225"/>
            <a:ext cx="235922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Filomena/Granada</a:t>
            </a:r>
            <a:endParaRPr lang="en-US" sz="900" dirty="0"/>
          </a:p>
        </p:txBody>
      </p:sp>
      <p:pic>
        <p:nvPicPr>
          <p:cNvPr id="67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05250" y="2857500"/>
            <a:ext cx="2143125" cy="371475"/>
          </a:xfrm>
          <a:prstGeom prst="rect">
            <a:avLst/>
          </a:prstGeom>
        </p:spPr>
      </p:pic>
      <p:sp>
        <p:nvSpPr>
          <p:cNvPr id="68" name="Text 27"/>
          <p:cNvSpPr/>
          <p:nvPr/>
        </p:nvSpPr>
        <p:spPr>
          <a:xfrm>
            <a:off x="4013746" y="2943225"/>
            <a:ext cx="192940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pic>
        <p:nvPicPr>
          <p:cNvPr id="6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019800" y="2857500"/>
            <a:ext cx="2524125" cy="371475"/>
          </a:xfrm>
          <a:prstGeom prst="rect">
            <a:avLst/>
          </a:prstGeom>
        </p:spPr>
      </p:pic>
      <p:sp>
        <p:nvSpPr>
          <p:cNvPr id="70" name="Text 28"/>
          <p:cNvSpPr/>
          <p:nvPr/>
        </p:nvSpPr>
        <p:spPr>
          <a:xfrm>
            <a:off x="6133654" y="2943225"/>
            <a:ext cx="23019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~84,827</a:t>
            </a:r>
            <a:endParaRPr lang="en-US" sz="900" dirty="0"/>
          </a:p>
        </p:txBody>
      </p:sp>
      <p:pic>
        <p:nvPicPr>
          <p:cNvPr id="71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515350" y="2857500"/>
            <a:ext cx="1647825" cy="371475"/>
          </a:xfrm>
          <a:prstGeom prst="rect">
            <a:avLst/>
          </a:prstGeom>
        </p:spPr>
      </p:pic>
      <p:sp>
        <p:nvSpPr>
          <p:cNvPr id="72" name="Text 29"/>
          <p:cNvSpPr/>
          <p:nvPr/>
        </p:nvSpPr>
        <p:spPr>
          <a:xfrm>
            <a:off x="8626078" y="2943225"/>
            <a:ext cx="142815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pic>
        <p:nvPicPr>
          <p:cNvPr id="7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134600" y="2857500"/>
            <a:ext cx="1485900" cy="371475"/>
          </a:xfrm>
          <a:prstGeom prst="rect">
            <a:avLst/>
          </a:prstGeom>
        </p:spPr>
      </p:pic>
      <p:sp>
        <p:nvSpPr>
          <p:cNvPr id="74" name="Text 30"/>
          <p:cNvSpPr/>
          <p:nvPr/>
        </p:nvSpPr>
        <p:spPr>
          <a:xfrm>
            <a:off x="10244733" y="2943225"/>
            <a:ext cx="12709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pic>
        <p:nvPicPr>
          <p:cNvPr id="75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71500" y="3200400"/>
            <a:ext cx="809625" cy="371475"/>
          </a:xfrm>
          <a:prstGeom prst="rect">
            <a:avLst/>
          </a:prstGeom>
        </p:spPr>
      </p:pic>
      <p:sp>
        <p:nvSpPr>
          <p:cNvPr id="76" name="Text 31"/>
          <p:cNvSpPr/>
          <p:nvPr/>
        </p:nvSpPr>
        <p:spPr>
          <a:xfrm>
            <a:off x="676275" y="3290888"/>
            <a:ext cx="59724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</a:t>
            </a:r>
            <a:endParaRPr lang="en-US" sz="900" dirty="0"/>
          </a:p>
        </p:txBody>
      </p:sp>
      <p:pic>
        <p:nvPicPr>
          <p:cNvPr id="77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352550" y="3200400"/>
            <a:ext cx="2581275" cy="371475"/>
          </a:xfrm>
          <a:prstGeom prst="rect">
            <a:avLst/>
          </a:prstGeom>
        </p:spPr>
      </p:pic>
      <p:sp>
        <p:nvSpPr>
          <p:cNvPr id="78" name="Text 32"/>
          <p:cNvSpPr/>
          <p:nvPr/>
        </p:nvSpPr>
        <p:spPr>
          <a:xfrm>
            <a:off x="1464022" y="3290888"/>
            <a:ext cx="235922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Gloria bo'roni</a:t>
            </a:r>
            <a:endParaRPr lang="en-US" sz="900" dirty="0"/>
          </a:p>
        </p:txBody>
      </p:sp>
      <p:pic>
        <p:nvPicPr>
          <p:cNvPr id="79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05250" y="3200400"/>
            <a:ext cx="2143125" cy="371475"/>
          </a:xfrm>
          <a:prstGeom prst="rect">
            <a:avLst/>
          </a:prstGeom>
        </p:spPr>
      </p:pic>
      <p:sp>
        <p:nvSpPr>
          <p:cNvPr id="80" name="Text 33"/>
          <p:cNvSpPr/>
          <p:nvPr/>
        </p:nvSpPr>
        <p:spPr>
          <a:xfrm>
            <a:off x="4013746" y="3290888"/>
            <a:ext cx="192940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~14</a:t>
            </a:r>
            <a:endParaRPr lang="en-US" sz="900" dirty="0"/>
          </a:p>
        </p:txBody>
      </p:sp>
      <p:pic>
        <p:nvPicPr>
          <p:cNvPr id="81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19800" y="3200400"/>
            <a:ext cx="2524125" cy="371475"/>
          </a:xfrm>
          <a:prstGeom prst="rect">
            <a:avLst/>
          </a:prstGeom>
        </p:spPr>
      </p:pic>
      <p:sp>
        <p:nvSpPr>
          <p:cNvPr id="82" name="Text 34"/>
          <p:cNvSpPr/>
          <p:nvPr/>
        </p:nvSpPr>
        <p:spPr>
          <a:xfrm>
            <a:off x="6133654" y="3290888"/>
            <a:ext cx="23019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~61,099</a:t>
            </a:r>
            <a:endParaRPr lang="en-US" sz="900" dirty="0"/>
          </a:p>
        </p:txBody>
      </p:sp>
      <p:pic>
        <p:nvPicPr>
          <p:cNvPr id="83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515350" y="3200400"/>
            <a:ext cx="1647825" cy="371475"/>
          </a:xfrm>
          <a:prstGeom prst="rect">
            <a:avLst/>
          </a:prstGeom>
        </p:spPr>
      </p:pic>
      <p:sp>
        <p:nvSpPr>
          <p:cNvPr id="84" name="Text 35"/>
          <p:cNvSpPr/>
          <p:nvPr/>
        </p:nvSpPr>
        <p:spPr>
          <a:xfrm>
            <a:off x="8626078" y="3290888"/>
            <a:ext cx="142815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900" dirty="0"/>
          </a:p>
        </p:txBody>
      </p:sp>
      <p:pic>
        <p:nvPicPr>
          <p:cNvPr id="85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134600" y="3200400"/>
            <a:ext cx="1485900" cy="371475"/>
          </a:xfrm>
          <a:prstGeom prst="rect">
            <a:avLst/>
          </a:prstGeom>
        </p:spPr>
      </p:pic>
      <p:sp>
        <p:nvSpPr>
          <p:cNvPr id="86" name="Text 36"/>
          <p:cNvSpPr/>
          <p:nvPr/>
        </p:nvSpPr>
        <p:spPr>
          <a:xfrm>
            <a:off x="10244733" y="3290888"/>
            <a:ext cx="12709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900" dirty="0"/>
          </a:p>
        </p:txBody>
      </p:sp>
      <p:pic>
        <p:nvPicPr>
          <p:cNvPr id="87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33425" y="3886200"/>
            <a:ext cx="5867400" cy="1866900"/>
          </a:xfrm>
          <a:prstGeom prst="rect">
            <a:avLst/>
          </a:prstGeom>
        </p:spPr>
      </p:pic>
      <p:sp>
        <p:nvSpPr>
          <p:cNvPr id="88" name="Text 37"/>
          <p:cNvSpPr/>
          <p:nvPr/>
        </p:nvSpPr>
        <p:spPr>
          <a:xfrm>
            <a:off x="7239000" y="3733800"/>
            <a:ext cx="14668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Asosiy xulosalar</a:t>
            </a:r>
            <a:endParaRPr lang="en-US" sz="1200" dirty="0"/>
          </a:p>
        </p:txBody>
      </p:sp>
      <p:pic>
        <p:nvPicPr>
          <p:cNvPr id="8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81825" y="3762375"/>
            <a:ext cx="190500" cy="190500"/>
          </a:xfrm>
          <a:prstGeom prst="rect">
            <a:avLst/>
          </a:prstGeom>
        </p:spPr>
      </p:pic>
      <p:sp>
        <p:nvSpPr>
          <p:cNvPr id="90" name="Text 38"/>
          <p:cNvSpPr/>
          <p:nvPr/>
        </p:nvSpPr>
        <p:spPr>
          <a:xfrm>
            <a:off x="7124700" y="4238625"/>
            <a:ext cx="4400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2022-yil: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Rekord yong'in mavsumi — 306,555 ga, EU umumiy maydonining 40%i</a:t>
            </a:r>
            <a:endParaRPr lang="en-US" sz="800" dirty="0"/>
          </a:p>
        </p:txBody>
      </p:sp>
      <p:sp>
        <p:nvSpPr>
          <p:cNvPr id="91" name="Text 39"/>
          <p:cNvSpPr/>
          <p:nvPr/>
        </p:nvSpPr>
        <p:spPr>
          <a:xfrm>
            <a:off x="7124700" y="4848225"/>
            <a:ext cx="4400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2024-yil DANA: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8 soatda yillik yog'in miqdori tushdi, 100,000+ avtomobil vayron</a:t>
            </a:r>
            <a:endParaRPr lang="en-US" sz="800" dirty="0"/>
          </a:p>
        </p:txBody>
      </p:sp>
      <p:sp>
        <p:nvSpPr>
          <p:cNvPr id="92" name="Text 40"/>
          <p:cNvSpPr/>
          <p:nvPr/>
        </p:nvSpPr>
        <p:spPr>
          <a:xfrm>
            <a:off x="7124700" y="5457825"/>
            <a:ext cx="440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Issiqlik to'lqinlari: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2022-yilda 4,000+ ortiqcha o'lim</a:t>
            </a:r>
            <a:endParaRPr lang="en-US" sz="800" dirty="0"/>
          </a:p>
        </p:txBody>
      </p:sp>
      <p:sp>
        <p:nvSpPr>
          <p:cNvPr id="93" name="Text 41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94" name="Text 42"/>
          <p:cNvSpPr/>
          <p:nvPr/>
        </p:nvSpPr>
        <p:spPr>
          <a:xfrm>
            <a:off x="11439525" y="638175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591675" y="1619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685925"/>
            <a:ext cx="7810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952625"/>
            <a:ext cx="3667125" cy="1295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775" y="1952625"/>
            <a:ext cx="3667125" cy="1295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9575" y="1952625"/>
            <a:ext cx="3667125" cy="1295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3314700"/>
            <a:ext cx="11134725" cy="1676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124325"/>
            <a:ext cx="11049000" cy="4095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5057775"/>
            <a:ext cx="4371975" cy="9810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219700"/>
            <a:ext cx="590550" cy="5905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6825" y="5057775"/>
            <a:ext cx="6553200" cy="400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6825" y="5514975"/>
            <a:ext cx="6553200" cy="5524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1104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STUDY: 2024-yil Valensiya hududidagi o'rmon yong'inlari</a:t>
            </a:r>
            <a:endParaRPr lang="en-US" sz="3100" dirty="0"/>
          </a:p>
        </p:txBody>
      </p:sp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6950" y="2105025"/>
            <a:ext cx="190500" cy="24765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723900" y="2419350"/>
            <a:ext cx="327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Yong'inlar soni</a:t>
            </a:r>
            <a:endParaRPr lang="en-US" sz="800" dirty="0"/>
          </a:p>
        </p:txBody>
      </p:sp>
      <p:sp>
        <p:nvSpPr>
          <p:cNvPr id="19" name="Text 2"/>
          <p:cNvSpPr/>
          <p:nvPr/>
        </p:nvSpPr>
        <p:spPr>
          <a:xfrm>
            <a:off x="723900" y="257175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270 ta</a:t>
            </a:r>
            <a:endParaRPr lang="en-US" sz="1700" dirty="0"/>
          </a:p>
        </p:txBody>
      </p:sp>
      <p:sp>
        <p:nvSpPr>
          <p:cNvPr id="20" name="Text 3"/>
          <p:cNvSpPr/>
          <p:nvPr/>
        </p:nvSpPr>
        <p:spPr>
          <a:xfrm>
            <a:off x="723900" y="2876550"/>
            <a:ext cx="3276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(Yanvar-May, 2x o'rtacha)</a:t>
            </a:r>
            <a:endParaRPr lang="en-US" sz="700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43600" y="2105025"/>
            <a:ext cx="304800" cy="247650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4457700" y="2419350"/>
            <a:ext cx="327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Yong'in maydoni</a:t>
            </a:r>
            <a:endParaRPr lang="en-US" sz="800" dirty="0"/>
          </a:p>
        </p:txBody>
      </p:sp>
      <p:sp>
        <p:nvSpPr>
          <p:cNvPr id="23" name="Text 5"/>
          <p:cNvSpPr/>
          <p:nvPr/>
        </p:nvSpPr>
        <p:spPr>
          <a:xfrm>
            <a:off x="4457700" y="257175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~1,066 ga</a:t>
            </a:r>
            <a:endParaRPr lang="en-US" sz="1700" dirty="0"/>
          </a:p>
        </p:txBody>
      </p:sp>
      <p:sp>
        <p:nvSpPr>
          <p:cNvPr id="24" name="Text 6"/>
          <p:cNvSpPr/>
          <p:nvPr/>
        </p:nvSpPr>
        <p:spPr>
          <a:xfrm>
            <a:off x="4457700" y="2876550"/>
            <a:ext cx="3276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(Dastlabki 5 oy)</a:t>
            </a:r>
            <a:endParaRPr lang="en-US" sz="700" dirty="0"/>
          </a:p>
        </p:txBody>
      </p:sp>
      <p:pic>
        <p:nvPicPr>
          <p:cNvPr id="2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86925" y="2105025"/>
            <a:ext cx="285750" cy="247650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8191500" y="2419350"/>
            <a:ext cx="327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Viloyatlar bo'yicha</a:t>
            </a:r>
            <a:endParaRPr lang="en-US" sz="800" dirty="0"/>
          </a:p>
        </p:txBody>
      </p:sp>
      <p:sp>
        <p:nvSpPr>
          <p:cNvPr id="27" name="Text 8"/>
          <p:cNvSpPr/>
          <p:nvPr/>
        </p:nvSpPr>
        <p:spPr>
          <a:xfrm>
            <a:off x="9201150" y="2609850"/>
            <a:ext cx="4095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Val: 173</a:t>
            </a:r>
            <a:endParaRPr lang="en-US" sz="700" dirty="0"/>
          </a:p>
        </p:txBody>
      </p:sp>
      <p:sp>
        <p:nvSpPr>
          <p:cNvPr id="28" name="Text 9"/>
          <p:cNvSpPr/>
          <p:nvPr/>
        </p:nvSpPr>
        <p:spPr>
          <a:xfrm>
            <a:off x="9686925" y="2609850"/>
            <a:ext cx="3238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Ali: 56</a:t>
            </a:r>
            <a:endParaRPr lang="en-US" sz="700" dirty="0"/>
          </a:p>
        </p:txBody>
      </p:sp>
      <p:sp>
        <p:nvSpPr>
          <p:cNvPr id="29" name="Text 10"/>
          <p:cNvSpPr/>
          <p:nvPr/>
        </p:nvSpPr>
        <p:spPr>
          <a:xfrm>
            <a:off x="10086975" y="2609850"/>
            <a:ext cx="3714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Kas: 41</a:t>
            </a:r>
            <a:endParaRPr lang="en-US" sz="700" dirty="0"/>
          </a:p>
        </p:txBody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324225"/>
            <a:ext cx="2781300" cy="438150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695325" y="3448050"/>
            <a:ext cx="25288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Voqea</a:t>
            </a:r>
            <a:endParaRPr lang="en-US" sz="900" dirty="0"/>
          </a:p>
        </p:txBody>
      </p:sp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24225" y="3324225"/>
            <a:ext cx="1685925" cy="438150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3452813" y="3448050"/>
            <a:ext cx="14257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Sana</a:t>
            </a:r>
            <a:endParaRPr lang="en-US" sz="900" dirty="0"/>
          </a:p>
        </p:txBody>
      </p:sp>
      <p:pic>
        <p:nvPicPr>
          <p:cNvPr id="3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81575" y="3324225"/>
            <a:ext cx="3333750" cy="43815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5107186" y="3448050"/>
            <a:ext cx="308029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Zarar</a:t>
            </a:r>
            <a:endParaRPr lang="en-US" sz="900" dirty="0"/>
          </a:p>
        </p:txBody>
      </p:sp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0" y="3324225"/>
            <a:ext cx="3333750" cy="438150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8416082" y="3448050"/>
            <a:ext cx="308059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Sabab</a:t>
            </a:r>
            <a:endParaRPr lang="en-US" sz="900" dirty="0"/>
          </a:p>
        </p:txBody>
      </p:sp>
      <p:pic>
        <p:nvPicPr>
          <p:cNvPr id="3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733800"/>
            <a:ext cx="2781300" cy="409575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695325" y="3843338"/>
            <a:ext cx="25288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Tarbena (Alikante)</a:t>
            </a:r>
            <a:endParaRPr lang="en-US" sz="900" dirty="0"/>
          </a:p>
        </p:txBody>
      </p:sp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24225" y="3733800"/>
            <a:ext cx="1685925" cy="409575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3452813" y="3843338"/>
            <a:ext cx="142577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Aprel 2024</a:t>
            </a:r>
            <a:endParaRPr lang="en-US" sz="900" dirty="0"/>
          </a:p>
        </p:txBody>
      </p:sp>
      <p:pic>
        <p:nvPicPr>
          <p:cNvPr id="4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81575" y="3733800"/>
            <a:ext cx="3333750" cy="409575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5107186" y="3843338"/>
            <a:ext cx="308029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~640 ga, 3 yong'in xodimi jarohatlangan</a:t>
            </a:r>
            <a:endParaRPr lang="en-US" sz="900" dirty="0"/>
          </a:p>
        </p:txBody>
      </p:sp>
      <p:pic>
        <p:nvPicPr>
          <p:cNvPr id="4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86750" y="3733800"/>
            <a:ext cx="3333750" cy="409575"/>
          </a:xfrm>
          <a:prstGeom prst="rect">
            <a:avLst/>
          </a:prstGeom>
        </p:spPr>
      </p:pic>
      <p:sp>
        <p:nvSpPr>
          <p:cNvPr id="45" name="Text 18"/>
          <p:cNvSpPr/>
          <p:nvPr/>
        </p:nvSpPr>
        <p:spPr>
          <a:xfrm>
            <a:off x="8416082" y="3843338"/>
            <a:ext cx="308059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Qishloq xo'jaligi o't o'chirish</a:t>
            </a:r>
            <a:endParaRPr lang="en-US" sz="900" dirty="0"/>
          </a:p>
        </p:txBody>
      </p:sp>
      <p:pic>
        <p:nvPicPr>
          <p:cNvPr id="4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4124325"/>
            <a:ext cx="2781300" cy="409575"/>
          </a:xfrm>
          <a:prstGeom prst="rect">
            <a:avLst/>
          </a:prstGeom>
        </p:spPr>
      </p:pic>
      <p:sp>
        <p:nvSpPr>
          <p:cNvPr id="47" name="Text 19"/>
          <p:cNvSpPr/>
          <p:nvPr/>
        </p:nvSpPr>
        <p:spPr>
          <a:xfrm>
            <a:off x="695325" y="4229100"/>
            <a:ext cx="25288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Ontinyent (Valensiya)</a:t>
            </a:r>
            <a:endParaRPr lang="en-US" sz="900" dirty="0"/>
          </a:p>
        </p:txBody>
      </p:sp>
      <p:pic>
        <p:nvPicPr>
          <p:cNvPr id="4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24225" y="4124325"/>
            <a:ext cx="1685925" cy="409575"/>
          </a:xfrm>
          <a:prstGeom prst="rect">
            <a:avLst/>
          </a:prstGeom>
        </p:spPr>
      </p:pic>
      <p:sp>
        <p:nvSpPr>
          <p:cNvPr id="49" name="Text 20"/>
          <p:cNvSpPr/>
          <p:nvPr/>
        </p:nvSpPr>
        <p:spPr>
          <a:xfrm>
            <a:off x="3452813" y="4229100"/>
            <a:ext cx="142577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Iyul 2024</a:t>
            </a:r>
            <a:endParaRPr lang="en-US" sz="900" dirty="0"/>
          </a:p>
        </p:txBody>
      </p:sp>
      <p:pic>
        <p:nvPicPr>
          <p:cNvPr id="5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81575" y="4124325"/>
            <a:ext cx="3333750" cy="409575"/>
          </a:xfrm>
          <a:prstGeom prst="rect">
            <a:avLst/>
          </a:prstGeom>
        </p:spPr>
      </p:pic>
      <p:sp>
        <p:nvSpPr>
          <p:cNvPr id="51" name="Text 21"/>
          <p:cNvSpPr/>
          <p:nvPr/>
        </p:nvSpPr>
        <p:spPr>
          <a:xfrm>
            <a:off x="5107186" y="4229100"/>
            <a:ext cx="308029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Katta o'rmon massivi</a:t>
            </a:r>
            <a:endParaRPr lang="en-US" sz="900" dirty="0"/>
          </a:p>
        </p:txBody>
      </p:sp>
      <p:pic>
        <p:nvPicPr>
          <p:cNvPr id="5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86750" y="4124325"/>
            <a:ext cx="3333750" cy="409575"/>
          </a:xfrm>
          <a:prstGeom prst="rect">
            <a:avLst/>
          </a:prstGeom>
        </p:spPr>
      </p:pic>
      <p:sp>
        <p:nvSpPr>
          <p:cNvPr id="53" name="Text 22"/>
          <p:cNvSpPr/>
          <p:nvPr/>
        </p:nvSpPr>
        <p:spPr>
          <a:xfrm>
            <a:off x="8416082" y="4229100"/>
            <a:ext cx="308059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Tekshirilmoqda</a:t>
            </a:r>
            <a:endParaRPr lang="en-US" sz="900" dirty="0"/>
          </a:p>
        </p:txBody>
      </p:sp>
      <p:pic>
        <p:nvPicPr>
          <p:cNvPr id="5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4505325"/>
            <a:ext cx="2781300" cy="409575"/>
          </a:xfrm>
          <a:prstGeom prst="rect">
            <a:avLst/>
          </a:prstGeom>
        </p:spPr>
      </p:pic>
      <p:sp>
        <p:nvSpPr>
          <p:cNvPr id="55" name="Text 23"/>
          <p:cNvSpPr/>
          <p:nvPr/>
        </p:nvSpPr>
        <p:spPr>
          <a:xfrm>
            <a:off x="695325" y="4614863"/>
            <a:ext cx="25288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Bokairent (Valensiya)</a:t>
            </a:r>
            <a:endParaRPr lang="en-US" sz="900" dirty="0"/>
          </a:p>
        </p:txBody>
      </p:sp>
      <p:pic>
        <p:nvPicPr>
          <p:cNvPr id="5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24225" y="4505325"/>
            <a:ext cx="1685925" cy="409575"/>
          </a:xfrm>
          <a:prstGeom prst="rect">
            <a:avLst/>
          </a:prstGeom>
        </p:spPr>
      </p:pic>
      <p:sp>
        <p:nvSpPr>
          <p:cNvPr id="57" name="Text 24"/>
          <p:cNvSpPr/>
          <p:nvPr/>
        </p:nvSpPr>
        <p:spPr>
          <a:xfrm>
            <a:off x="3452813" y="4614863"/>
            <a:ext cx="142577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Aprel 2024</a:t>
            </a:r>
            <a:endParaRPr lang="en-US" sz="900" dirty="0"/>
          </a:p>
        </p:txBody>
      </p:sp>
      <p:pic>
        <p:nvPicPr>
          <p:cNvPr id="5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81575" y="4505325"/>
            <a:ext cx="3333750" cy="409575"/>
          </a:xfrm>
          <a:prstGeom prst="rect">
            <a:avLst/>
          </a:prstGeom>
        </p:spPr>
      </p:pic>
      <p:sp>
        <p:nvSpPr>
          <p:cNvPr id="59" name="Text 25"/>
          <p:cNvSpPr/>
          <p:nvPr/>
        </p:nvSpPr>
        <p:spPr>
          <a:xfrm>
            <a:off x="5107186" y="4614863"/>
            <a:ext cx="308029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halok bo'lgan</a:t>
            </a:r>
            <a:endParaRPr lang="en-US" sz="900" dirty="0"/>
          </a:p>
        </p:txBody>
      </p:sp>
      <p:pic>
        <p:nvPicPr>
          <p:cNvPr id="6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86750" y="4505325"/>
            <a:ext cx="3333750" cy="409575"/>
          </a:xfrm>
          <a:prstGeom prst="rect">
            <a:avLst/>
          </a:prstGeom>
        </p:spPr>
      </p:pic>
      <p:sp>
        <p:nvSpPr>
          <p:cNvPr id="61" name="Text 26"/>
          <p:cNvSpPr/>
          <p:nvPr/>
        </p:nvSpPr>
        <p:spPr>
          <a:xfrm>
            <a:off x="8416082" y="4614863"/>
            <a:ext cx="308059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Qishloq xo'jaligi o't o'chirish</a:t>
            </a:r>
            <a:endParaRPr lang="en-US" sz="900" dirty="0"/>
          </a:p>
        </p:txBody>
      </p:sp>
      <p:pic>
        <p:nvPicPr>
          <p:cNvPr id="6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8675" y="5362575"/>
            <a:ext cx="381000" cy="304800"/>
          </a:xfrm>
          <a:prstGeom prst="rect">
            <a:avLst/>
          </a:prstGeom>
        </p:spPr>
      </p:pic>
      <p:sp>
        <p:nvSpPr>
          <p:cNvPr id="63" name="Text 27"/>
          <p:cNvSpPr/>
          <p:nvPr/>
        </p:nvSpPr>
        <p:spPr>
          <a:xfrm>
            <a:off x="1457325" y="5248275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Evakuatsiya statistikasi</a:t>
            </a:r>
            <a:endParaRPr lang="en-US" sz="900" dirty="0"/>
          </a:p>
        </p:txBody>
      </p:sp>
      <p:sp>
        <p:nvSpPr>
          <p:cNvPr id="64" name="Text 28"/>
          <p:cNvSpPr/>
          <p:nvPr/>
        </p:nvSpPr>
        <p:spPr>
          <a:xfrm>
            <a:off x="1457325" y="5476875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Jami </a:t>
            </a:r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2,804 kishi</a:t>
            </a:r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ko'chirilgan. Ontinyent yong'inida </a:t>
            </a:r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1,520 kishi</a:t>
            </a:r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yilning eng yirik evakuatsiyasi.</a:t>
            </a:r>
            <a:endParaRPr lang="en-US" sz="800" dirty="0"/>
          </a:p>
        </p:txBody>
      </p:sp>
      <p:sp>
        <p:nvSpPr>
          <p:cNvPr id="65" name="Text 29"/>
          <p:cNvSpPr/>
          <p:nvPr/>
        </p:nvSpPr>
        <p:spPr>
          <a:xfrm>
            <a:off x="5238750" y="5181600"/>
            <a:ext cx="6267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Ekologik zarar: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Tarbena yong'ini Maxsus Saqlash Hududiga (ZEC) ta'sir qildi.</a:t>
            </a:r>
            <a:endParaRPr lang="en-US" sz="800" dirty="0"/>
          </a:p>
        </p:txBody>
      </p:sp>
      <p:sp>
        <p:nvSpPr>
          <p:cNvPr id="66" name="Text 30"/>
          <p:cNvSpPr/>
          <p:nvPr/>
        </p:nvSpPr>
        <p:spPr>
          <a:xfrm>
            <a:off x="5238750" y="5638800"/>
            <a:ext cx="6267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Olingan saboqlar: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Qishloq xo'jaligi o't o'chirishni nazorat qilish zarur, shahar-o'rmon interfeysida oldini olish choralarini kuchaytirish lozim.</a:t>
            </a:r>
            <a:endParaRPr lang="en-US" sz="800" dirty="0"/>
          </a:p>
        </p:txBody>
      </p:sp>
      <p:sp>
        <p:nvSpPr>
          <p:cNvPr id="67" name="Text 31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68" name="Text 32"/>
          <p:cNvSpPr/>
          <p:nvPr/>
        </p:nvSpPr>
        <p:spPr>
          <a:xfrm>
            <a:off x="11477625" y="63817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591675" y="1619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162050"/>
            <a:ext cx="7810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504950"/>
            <a:ext cx="2752725" cy="10858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1504950"/>
            <a:ext cx="2752725" cy="10858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3975" y="1504950"/>
            <a:ext cx="2752725" cy="10858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4991100"/>
            <a:ext cx="2752725" cy="10763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2975" y="4991100"/>
            <a:ext cx="2752725" cy="10763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3975" y="4991100"/>
            <a:ext cx="2752725" cy="10763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571500"/>
            <a:ext cx="1104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ISPANIYA: Favqulodda holatlarga javob tizimi</a:t>
            </a:r>
            <a:endParaRPr lang="en-US" sz="3100" dirty="0"/>
          </a:p>
        </p:txBody>
      </p:sp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1628775"/>
            <a:ext cx="209550" cy="20955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1000125" y="16383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 Markazi</a:t>
            </a:r>
            <a:endParaRPr lang="en-US" sz="900" dirty="0"/>
          </a:p>
        </p:txBody>
      </p:sp>
      <p:sp>
        <p:nvSpPr>
          <p:cNvPr id="16" name="Text 2"/>
          <p:cNvSpPr/>
          <p:nvPr/>
        </p:nvSpPr>
        <p:spPr>
          <a:xfrm>
            <a:off x="695325" y="1905000"/>
            <a:ext cx="2419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Yagona favqulodda qo'ng'iroq (politsiya, yong'in, tez yordam). 24/7, bepul xizmat.</a:t>
            </a:r>
            <a:endParaRPr lang="en-US" sz="700" dirty="0"/>
          </a:p>
        </p:txBody>
      </p:sp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6800" y="1647825"/>
            <a:ext cx="238125" cy="209550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5219700" y="165735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</a:t>
            </a:r>
            <a:endParaRPr lang="en-US" sz="900" dirty="0"/>
          </a:p>
        </p:txBody>
      </p:sp>
      <p:sp>
        <p:nvSpPr>
          <p:cNvPr id="19" name="Text 4"/>
          <p:cNvSpPr/>
          <p:nvPr/>
        </p:nvSpPr>
        <p:spPr>
          <a:xfrm>
            <a:off x="4886325" y="1924050"/>
            <a:ext cx="24193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Broadcast: mobil minoralardan geografik zonaga xabar. Tiqilinishsiz, ovozsiz rejimda ham ishlaydi.</a:t>
            </a:r>
            <a:endParaRPr lang="en-US" sz="700" dirty="0"/>
          </a:p>
        </p:txBody>
      </p:sp>
      <p:pic>
        <p:nvPicPr>
          <p:cNvPr id="2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7800" y="1628775"/>
            <a:ext cx="257175" cy="209550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9429750" y="16383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AEMET Xizmati</a:t>
            </a:r>
            <a:endParaRPr lang="en-US" sz="900" dirty="0"/>
          </a:p>
        </p:txBody>
      </p:sp>
      <p:sp>
        <p:nvSpPr>
          <p:cNvPr id="22" name="Text 6"/>
          <p:cNvSpPr/>
          <p:nvPr/>
        </p:nvSpPr>
        <p:spPr>
          <a:xfrm>
            <a:off x="9077325" y="1905000"/>
            <a:ext cx="24193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Meteorologiya xizmati: xavf darajasiga ko'ra rangli kodli (sariq, to'q sariq, qizil) ogohlantirishlar.</a:t>
            </a:r>
            <a:endParaRPr lang="en-US" sz="700" dirty="0"/>
          </a:p>
        </p:txBody>
      </p:sp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75" y="3562350"/>
            <a:ext cx="1733550" cy="400050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095375" y="3669506"/>
            <a:ext cx="1428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AEMET warning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09875" y="3657600"/>
            <a:ext cx="142875" cy="209550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86100" y="3467100"/>
            <a:ext cx="1733550" cy="59055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3238500" y="3576638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authority decision</a:t>
            </a:r>
            <a:endParaRPr lang="en-US" sz="900" dirty="0"/>
          </a:p>
        </p:txBody>
      </p:sp>
      <p:pic>
        <p:nvPicPr>
          <p:cNvPr id="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0" y="3657600"/>
            <a:ext cx="142875" cy="209550"/>
          </a:xfrm>
          <a:prstGeom prst="rect">
            <a:avLst/>
          </a:prstGeom>
        </p:spPr>
      </p:pic>
      <p:pic>
        <p:nvPicPr>
          <p:cNvPr id="2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29225" y="3562350"/>
            <a:ext cx="1733550" cy="400050"/>
          </a:xfrm>
          <a:prstGeom prst="rect">
            <a:avLst/>
          </a:prstGeom>
        </p:spPr>
      </p:pic>
      <p:sp>
        <p:nvSpPr>
          <p:cNvPr id="30" name="Text 9"/>
          <p:cNvSpPr/>
          <p:nvPr/>
        </p:nvSpPr>
        <p:spPr>
          <a:xfrm>
            <a:off x="5381625" y="3669506"/>
            <a:ext cx="1428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 activation</a:t>
            </a:r>
            <a:endParaRPr lang="en-US" sz="900" dirty="0"/>
          </a:p>
        </p:txBody>
      </p:sp>
      <p:pic>
        <p:nvPicPr>
          <p:cNvPr id="3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96125" y="3657600"/>
            <a:ext cx="142875" cy="209550"/>
          </a:xfrm>
          <a:prstGeom prst="rect">
            <a:avLst/>
          </a:prstGeom>
        </p:spPr>
      </p:pic>
      <p:pic>
        <p:nvPicPr>
          <p:cNvPr id="3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72350" y="3562350"/>
            <a:ext cx="1733550" cy="400050"/>
          </a:xfrm>
          <a:prstGeom prst="rect">
            <a:avLst/>
          </a:prstGeom>
        </p:spPr>
      </p:pic>
      <p:sp>
        <p:nvSpPr>
          <p:cNvPr id="33" name="Text 10"/>
          <p:cNvSpPr/>
          <p:nvPr/>
        </p:nvSpPr>
        <p:spPr>
          <a:xfrm>
            <a:off x="7524750" y="3669506"/>
            <a:ext cx="1428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112 coordination</a:t>
            </a:r>
            <a:endParaRPr lang="en-US" sz="900" dirty="0"/>
          </a:p>
        </p:txBody>
      </p:sp>
      <p:pic>
        <p:nvPicPr>
          <p:cNvPr id="3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0" y="3657600"/>
            <a:ext cx="142875" cy="209550"/>
          </a:xfrm>
          <a:prstGeom prst="rect">
            <a:avLst/>
          </a:prstGeom>
        </p:spPr>
      </p:pic>
      <p:pic>
        <p:nvPicPr>
          <p:cNvPr id="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15475" y="3467100"/>
            <a:ext cx="1733550" cy="590550"/>
          </a:xfrm>
          <a:prstGeom prst="rect">
            <a:avLst/>
          </a:prstGeom>
        </p:spPr>
      </p:pic>
      <p:sp>
        <p:nvSpPr>
          <p:cNvPr id="36" name="Text 11"/>
          <p:cNvSpPr/>
          <p:nvPr/>
        </p:nvSpPr>
        <p:spPr>
          <a:xfrm>
            <a:off x="9667875" y="3576638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2E7D32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UME deployment if needed</a:t>
            </a:r>
            <a:endParaRPr lang="en-US" sz="900" dirty="0"/>
          </a:p>
        </p:txBody>
      </p:sp>
      <p:pic>
        <p:nvPicPr>
          <p:cNvPr id="3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5133975"/>
            <a:ext cx="209550" cy="219075"/>
          </a:xfrm>
          <a:prstGeom prst="rect">
            <a:avLst/>
          </a:prstGeom>
        </p:spPr>
      </p:pic>
      <p:sp>
        <p:nvSpPr>
          <p:cNvPr id="38" name="Text 12"/>
          <p:cNvSpPr/>
          <p:nvPr/>
        </p:nvSpPr>
        <p:spPr>
          <a:xfrm>
            <a:off x="1000125" y="5148263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Raqamli Monitoring</a:t>
            </a:r>
            <a:endParaRPr lang="en-US" sz="900" dirty="0"/>
          </a:p>
        </p:txBody>
      </p:sp>
      <p:sp>
        <p:nvSpPr>
          <p:cNvPr id="39" name="Text 13"/>
          <p:cNvSpPr/>
          <p:nvPr/>
        </p:nvSpPr>
        <p:spPr>
          <a:xfrm>
            <a:off x="695325" y="5414963"/>
            <a:ext cx="2419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GIS tizimlari, sun'iy yo'ldosh kuzatuvi va dron texnologiyalari orqali real-vaqt nazorati.</a:t>
            </a:r>
            <a:endParaRPr lang="en-US" sz="700" dirty="0"/>
          </a:p>
        </p:txBody>
      </p:sp>
      <p:pic>
        <p:nvPicPr>
          <p:cNvPr id="4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76800" y="5114925"/>
            <a:ext cx="257175" cy="219075"/>
          </a:xfrm>
          <a:prstGeom prst="rect">
            <a:avLst/>
          </a:prstGeom>
        </p:spPr>
      </p:pic>
      <p:sp>
        <p:nvSpPr>
          <p:cNvPr id="41" name="Text 14"/>
          <p:cNvSpPr/>
          <p:nvPr/>
        </p:nvSpPr>
        <p:spPr>
          <a:xfrm>
            <a:off x="5238750" y="5129213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Evakuatsiya &amp; Tayyorgarlik</a:t>
            </a:r>
            <a:endParaRPr lang="en-US" sz="900" dirty="0"/>
          </a:p>
        </p:txBody>
      </p:sp>
      <p:sp>
        <p:nvSpPr>
          <p:cNvPr id="42" name="Text 15"/>
          <p:cNvSpPr/>
          <p:nvPr/>
        </p:nvSpPr>
        <p:spPr>
          <a:xfrm>
            <a:off x="4886325" y="5395913"/>
            <a:ext cx="24193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Mahalliy hokimiyat evakuatsiyasi va maktablarda fuqarolar tayyorgarligi dasturlari.</a:t>
            </a:r>
            <a:endParaRPr lang="en-US" sz="700" dirty="0"/>
          </a:p>
        </p:txBody>
      </p:sp>
      <p:pic>
        <p:nvPicPr>
          <p:cNvPr id="4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67800" y="5114925"/>
            <a:ext cx="209550" cy="219075"/>
          </a:xfrm>
          <a:prstGeom prst="rect">
            <a:avLst/>
          </a:prstGeom>
        </p:spPr>
      </p:pic>
      <p:sp>
        <p:nvSpPr>
          <p:cNvPr id="44" name="Text 16"/>
          <p:cNvSpPr/>
          <p:nvPr/>
        </p:nvSpPr>
        <p:spPr>
          <a:xfrm>
            <a:off x="9382125" y="5129213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Yong'in Xavfsizligi</a:t>
            </a:r>
            <a:endParaRPr lang="en-US" sz="900" dirty="0"/>
          </a:p>
        </p:txBody>
      </p:sp>
      <p:sp>
        <p:nvSpPr>
          <p:cNvPr id="45" name="Text 17"/>
          <p:cNvSpPr/>
          <p:nvPr/>
        </p:nvSpPr>
        <p:spPr>
          <a:xfrm>
            <a:off x="9077325" y="5395913"/>
            <a:ext cx="2419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080/085 xizmatlari. UME (Harbiy bo'linma) og'ir vaziyatlarda qo'shimcha kuch sifatida.</a:t>
            </a:r>
            <a:endParaRPr lang="en-US" sz="700" dirty="0"/>
          </a:p>
        </p:txBody>
      </p:sp>
      <p:sp>
        <p:nvSpPr>
          <p:cNvPr id="46" name="Text 18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47" name="Text 19"/>
          <p:cNvSpPr/>
          <p:nvPr/>
        </p:nvSpPr>
        <p:spPr>
          <a:xfrm>
            <a:off x="11525250" y="638175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123950"/>
            <a:ext cx="781050" cy="666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885950"/>
            <a:ext cx="4305300" cy="4305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962525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5229225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5495925"/>
            <a:ext cx="133350" cy="1428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6825" y="1466850"/>
            <a:ext cx="6553200" cy="5810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0650" y="1552575"/>
            <a:ext cx="400050" cy="4095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6825" y="2095500"/>
            <a:ext cx="6553200" cy="5810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650" y="2181225"/>
            <a:ext cx="400050" cy="4095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6825" y="2724150"/>
            <a:ext cx="6553200" cy="5810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0650" y="2809875"/>
            <a:ext cx="400050" cy="4095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6825" y="3352800"/>
            <a:ext cx="6553200" cy="5810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3438525"/>
            <a:ext cx="400050" cy="4095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76825" y="3981450"/>
            <a:ext cx="6553200" cy="5810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00650" y="4067175"/>
            <a:ext cx="400050" cy="4095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76825" y="4610100"/>
            <a:ext cx="6553200" cy="58102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0650" y="4695825"/>
            <a:ext cx="400050" cy="4095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76825" y="5353050"/>
            <a:ext cx="6553200" cy="8382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1975" y="6315075"/>
            <a:ext cx="11068050" cy="3810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1500" y="571500"/>
            <a:ext cx="110490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EKOLOGIK TAHLIL Ispaniya</a:t>
            </a:r>
            <a:endParaRPr lang="en-US" sz="3400" dirty="0"/>
          </a:p>
        </p:txBody>
      </p:sp>
      <p:pic>
        <p:nvPicPr>
          <p:cNvPr id="2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1975" y="1485900"/>
            <a:ext cx="190500" cy="257175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819150" y="1478161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 resurslari muammolari</a:t>
            </a:r>
            <a:endParaRPr lang="en-US" sz="1400" dirty="0"/>
          </a:p>
        </p:txBody>
      </p:sp>
      <p:pic>
        <p:nvPicPr>
          <p:cNvPr id="2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4000" y="2406848"/>
            <a:ext cx="2381250" cy="2381250"/>
          </a:xfrm>
          <a:prstGeom prst="rect">
            <a:avLst/>
          </a:prstGeom>
        </p:spPr>
      </p:pic>
      <p:sp>
        <p:nvSpPr>
          <p:cNvPr id="27" name="Text 2"/>
          <p:cNvSpPr/>
          <p:nvPr/>
        </p:nvSpPr>
        <p:spPr>
          <a:xfrm>
            <a:off x="923925" y="4940498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Qishloq xo'jaligi</a:t>
            </a:r>
            <a:endParaRPr lang="en-US" sz="900" dirty="0"/>
          </a:p>
        </p:txBody>
      </p:sp>
      <p:sp>
        <p:nvSpPr>
          <p:cNvPr id="28" name="Text 3"/>
          <p:cNvSpPr/>
          <p:nvPr/>
        </p:nvSpPr>
        <p:spPr>
          <a:xfrm>
            <a:off x="4267200" y="4940498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80.5%</a:t>
            </a:r>
            <a:endParaRPr lang="en-US" sz="900" dirty="0"/>
          </a:p>
        </p:txBody>
      </p:sp>
      <p:sp>
        <p:nvSpPr>
          <p:cNvPr id="29" name="Text 4"/>
          <p:cNvSpPr/>
          <p:nvPr/>
        </p:nvSpPr>
        <p:spPr>
          <a:xfrm>
            <a:off x="923925" y="5207198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Shahar</a:t>
            </a:r>
            <a:endParaRPr lang="en-US" sz="900" dirty="0"/>
          </a:p>
        </p:txBody>
      </p:sp>
      <p:sp>
        <p:nvSpPr>
          <p:cNvPr id="30" name="Text 5"/>
          <p:cNvSpPr/>
          <p:nvPr/>
        </p:nvSpPr>
        <p:spPr>
          <a:xfrm>
            <a:off x="4314825" y="5207198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15.5%</a:t>
            </a:r>
            <a:endParaRPr lang="en-US" sz="900" dirty="0"/>
          </a:p>
        </p:txBody>
      </p:sp>
      <p:sp>
        <p:nvSpPr>
          <p:cNvPr id="31" name="Text 6"/>
          <p:cNvSpPr/>
          <p:nvPr/>
        </p:nvSpPr>
        <p:spPr>
          <a:xfrm>
            <a:off x="923925" y="5473898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Boshqa</a:t>
            </a:r>
            <a:endParaRPr lang="en-US" sz="900" dirty="0"/>
          </a:p>
        </p:txBody>
      </p:sp>
      <p:sp>
        <p:nvSpPr>
          <p:cNvPr id="32" name="Text 7"/>
          <p:cNvSpPr/>
          <p:nvPr/>
        </p:nvSpPr>
        <p:spPr>
          <a:xfrm>
            <a:off x="4476750" y="5473898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4%</a:t>
            </a:r>
            <a:endParaRPr lang="en-US" sz="900" dirty="0"/>
          </a:p>
        </p:txBody>
      </p:sp>
      <p:pic>
        <p:nvPicPr>
          <p:cNvPr id="3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14950" y="1666875"/>
            <a:ext cx="171450" cy="180975"/>
          </a:xfrm>
          <a:prstGeom prst="rect">
            <a:avLst/>
          </a:prstGeom>
        </p:spPr>
      </p:pic>
      <p:sp>
        <p:nvSpPr>
          <p:cNvPr id="34" name="Text 8"/>
          <p:cNvSpPr/>
          <p:nvPr/>
        </p:nvSpPr>
        <p:spPr>
          <a:xfrm>
            <a:off x="5705475" y="1582936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Qurg'oqchilik</a:t>
            </a:r>
            <a:endParaRPr lang="en-US" sz="900" dirty="0"/>
          </a:p>
        </p:txBody>
      </p:sp>
      <p:sp>
        <p:nvSpPr>
          <p:cNvPr id="35" name="Text 9"/>
          <p:cNvSpPr/>
          <p:nvPr/>
        </p:nvSpPr>
        <p:spPr>
          <a:xfrm>
            <a:off x="5705475" y="1773436"/>
            <a:ext cx="2105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74% hudud cho'llashish xavfi ostida</a:t>
            </a:r>
            <a:endParaRPr lang="en-US" sz="800" dirty="0"/>
          </a:p>
        </p:txBody>
      </p:sp>
      <p:pic>
        <p:nvPicPr>
          <p:cNvPr id="3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14950" y="2295525"/>
            <a:ext cx="171450" cy="180975"/>
          </a:xfrm>
          <a:prstGeom prst="rect">
            <a:avLst/>
          </a:prstGeom>
        </p:spPr>
      </p:pic>
      <p:sp>
        <p:nvSpPr>
          <p:cNvPr id="37" name="Text 10"/>
          <p:cNvSpPr/>
          <p:nvPr/>
        </p:nvSpPr>
        <p:spPr>
          <a:xfrm>
            <a:off x="5705475" y="2211586"/>
            <a:ext cx="371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 resurslari</a:t>
            </a:r>
            <a:endParaRPr lang="en-US" sz="900" dirty="0"/>
          </a:p>
        </p:txBody>
      </p:sp>
      <p:sp>
        <p:nvSpPr>
          <p:cNvPr id="38" name="Text 11"/>
          <p:cNvSpPr/>
          <p:nvPr/>
        </p:nvSpPr>
        <p:spPr>
          <a:xfrm>
            <a:off x="5705475" y="2402086"/>
            <a:ext cx="3714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 havzasi: 22.4% sig'im, Andalusiya havzalari: 31.3% sig'im</a:t>
            </a:r>
            <a:endParaRPr lang="en-US" sz="800" dirty="0"/>
          </a:p>
        </p:txBody>
      </p:sp>
      <p:pic>
        <p:nvPicPr>
          <p:cNvPr id="3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14950" y="2924175"/>
            <a:ext cx="171450" cy="180975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5705475" y="2840236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 yo'qotish</a:t>
            </a:r>
            <a:endParaRPr lang="en-US" sz="900" dirty="0"/>
          </a:p>
        </p:txBody>
      </p:sp>
      <p:sp>
        <p:nvSpPr>
          <p:cNvPr id="41" name="Text 13"/>
          <p:cNvSpPr/>
          <p:nvPr/>
        </p:nvSpPr>
        <p:spPr>
          <a:xfrm>
            <a:off x="5705475" y="3030736"/>
            <a:ext cx="3381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23.5% suv quvurlardan oqib ketadi (eskirgan infratuzilma)</a:t>
            </a:r>
            <a:endParaRPr lang="en-US" sz="800" dirty="0"/>
          </a:p>
        </p:txBody>
      </p:sp>
      <p:pic>
        <p:nvPicPr>
          <p:cNvPr id="4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95900" y="3552825"/>
            <a:ext cx="209550" cy="180975"/>
          </a:xfrm>
          <a:prstGeom prst="rect">
            <a:avLst/>
          </a:prstGeom>
        </p:spPr>
      </p:pic>
      <p:sp>
        <p:nvSpPr>
          <p:cNvPr id="43" name="Text 14"/>
          <p:cNvSpPr/>
          <p:nvPr/>
        </p:nvSpPr>
        <p:spPr>
          <a:xfrm>
            <a:off x="5705475" y="3468886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Havo ifloslanishi</a:t>
            </a:r>
            <a:endParaRPr lang="en-US" sz="900" dirty="0"/>
          </a:p>
        </p:txBody>
      </p:sp>
      <p:sp>
        <p:nvSpPr>
          <p:cNvPr id="44" name="Text 15"/>
          <p:cNvSpPr/>
          <p:nvPr/>
        </p:nvSpPr>
        <p:spPr>
          <a:xfrm>
            <a:off x="5705475" y="3659386"/>
            <a:ext cx="3524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Madrid, Barselona — EU standartlaridan yuqori NO2 darajasi</a:t>
            </a:r>
            <a:endParaRPr lang="en-US" sz="800" dirty="0"/>
          </a:p>
        </p:txBody>
      </p:sp>
      <p:pic>
        <p:nvPicPr>
          <p:cNvPr id="4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14950" y="4181475"/>
            <a:ext cx="171450" cy="180975"/>
          </a:xfrm>
          <a:prstGeom prst="rect">
            <a:avLst/>
          </a:prstGeom>
        </p:spPr>
      </p:pic>
      <p:sp>
        <p:nvSpPr>
          <p:cNvPr id="46" name="Text 16"/>
          <p:cNvSpPr/>
          <p:nvPr/>
        </p:nvSpPr>
        <p:spPr>
          <a:xfrm>
            <a:off x="5705475" y="4097536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Chiqindilar</a:t>
            </a:r>
            <a:endParaRPr lang="en-US" sz="900" dirty="0"/>
          </a:p>
        </p:txBody>
      </p:sp>
      <p:sp>
        <p:nvSpPr>
          <p:cNvPr id="47" name="Text 17"/>
          <p:cNvSpPr/>
          <p:nvPr/>
        </p:nvSpPr>
        <p:spPr>
          <a:xfrm>
            <a:off x="5705475" y="4288036"/>
            <a:ext cx="3600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Plastik chiqindilar muammosi, EU Single-Use Plastics Directive</a:t>
            </a:r>
            <a:endParaRPr lang="en-US" sz="800" dirty="0"/>
          </a:p>
        </p:txBody>
      </p:sp>
      <p:pic>
        <p:nvPicPr>
          <p:cNvPr id="4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14950" y="4810125"/>
            <a:ext cx="171450" cy="180975"/>
          </a:xfrm>
          <a:prstGeom prst="rect">
            <a:avLst/>
          </a:prstGeom>
        </p:spPr>
      </p:pic>
      <p:sp>
        <p:nvSpPr>
          <p:cNvPr id="49" name="Text 18"/>
          <p:cNvSpPr/>
          <p:nvPr/>
        </p:nvSpPr>
        <p:spPr>
          <a:xfrm>
            <a:off x="5705475" y="4726186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Issiqlik to'lqinlari</a:t>
            </a:r>
            <a:endParaRPr lang="en-US" sz="900" dirty="0"/>
          </a:p>
        </p:txBody>
      </p:sp>
      <p:sp>
        <p:nvSpPr>
          <p:cNvPr id="50" name="Text 19"/>
          <p:cNvSpPr/>
          <p:nvPr/>
        </p:nvSpPr>
        <p:spPr>
          <a:xfrm>
            <a:off x="5705475" y="4916686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2022-yilda 4,000+ ortiqcha o'lim</a:t>
            </a:r>
            <a:endParaRPr lang="en-US" sz="800" dirty="0"/>
          </a:p>
        </p:txBody>
      </p:sp>
      <p:pic>
        <p:nvPicPr>
          <p:cNvPr id="5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38750" y="5457825"/>
            <a:ext cx="171450" cy="180975"/>
          </a:xfrm>
          <a:prstGeom prst="rect">
            <a:avLst/>
          </a:prstGeom>
        </p:spPr>
      </p:pic>
      <p:sp>
        <p:nvSpPr>
          <p:cNvPr id="52" name="Text 20"/>
          <p:cNvSpPr/>
          <p:nvPr/>
        </p:nvSpPr>
        <p:spPr>
          <a:xfrm>
            <a:off x="5476875" y="5450086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2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Iqlim o'zgarishi ta'siri</a:t>
            </a:r>
            <a:endParaRPr lang="en-US" sz="900" dirty="0"/>
          </a:p>
        </p:txBody>
      </p:sp>
      <p:sp>
        <p:nvSpPr>
          <p:cNvPr id="53" name="Text 21"/>
          <p:cNvSpPr/>
          <p:nvPr/>
        </p:nvSpPr>
        <p:spPr>
          <a:xfrm>
            <a:off x="5248275" y="5716786"/>
            <a:ext cx="6210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2A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2023/2024 qurg'oqchilik: zaytun moyi ishlab chiqarish qiymati </a:t>
            </a:r>
            <a:pPr indent="0" marL="0">
              <a:buNone/>
            </a:pPr>
            <a:r>
              <a:rPr lang="en-US" sz="800" b="1" dirty="0">
                <a:solidFill>
                  <a:srgbClr val="7E2A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kamaydi</a:t>
            </a:r>
            <a:pPr indent="0" marL="0">
              <a:buNone/>
            </a:pPr>
            <a:r>
              <a:rPr lang="en-US" sz="800" dirty="0">
                <a:solidFill>
                  <a:srgbClr val="7E2A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Cho'llashish xavfi mamlakat hududining </a:t>
            </a:r>
            <a:pPr indent="0" marL="0">
              <a:buNone/>
            </a:pPr>
            <a:r>
              <a:rPr lang="en-US" sz="800" b="1" dirty="0">
                <a:solidFill>
                  <a:srgbClr val="7E2A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74%ini</a:t>
            </a:r>
            <a:pPr indent="0" marL="0">
              <a:buNone/>
            </a:pPr>
            <a:r>
              <a:rPr lang="en-US" sz="800" dirty="0">
                <a:solidFill>
                  <a:srgbClr val="7E2A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qamrab olmoqda.</a:t>
            </a:r>
            <a:endParaRPr lang="en-US" sz="800" dirty="0"/>
          </a:p>
        </p:txBody>
      </p:sp>
      <p:sp>
        <p:nvSpPr>
          <p:cNvPr id="54" name="Text 22"/>
          <p:cNvSpPr/>
          <p:nvPr/>
        </p:nvSpPr>
        <p:spPr>
          <a:xfrm>
            <a:off x="571500" y="6488311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55" name="Text 23"/>
          <p:cNvSpPr/>
          <p:nvPr/>
        </p:nvSpPr>
        <p:spPr>
          <a:xfrm>
            <a:off x="11487150" y="6488311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162050"/>
            <a:ext cx="781050" cy="666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809750"/>
            <a:ext cx="11068050" cy="4095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19275"/>
            <a:ext cx="6181725" cy="3905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495550"/>
            <a:ext cx="3552825" cy="2743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4825" y="2495550"/>
            <a:ext cx="3562350" cy="2743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2495550"/>
            <a:ext cx="3552825" cy="2743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5524500"/>
            <a:ext cx="11068050" cy="5524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571500" y="571500"/>
            <a:ext cx="110490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Yashil iqtisodiyot strategiyasi</a:t>
            </a:r>
            <a:endParaRPr lang="en-US" sz="3400" dirty="0"/>
          </a:p>
        </p:txBody>
      </p:sp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1447800"/>
            <a:ext cx="304800" cy="257175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" y="1447800"/>
            <a:ext cx="247650" cy="25717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1314450" y="1440061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Qayta tiklanuvchi energetika ulushi</a:t>
            </a:r>
            <a:endParaRPr lang="en-US" sz="1200" dirty="0"/>
          </a:p>
        </p:txBody>
      </p:sp>
      <p:sp>
        <p:nvSpPr>
          <p:cNvPr id="16" name="Text 2"/>
          <p:cNvSpPr/>
          <p:nvPr/>
        </p:nvSpPr>
        <p:spPr>
          <a:xfrm>
            <a:off x="10163175" y="1440061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Maqsad (2030): </a:t>
            </a:r>
            <a:pPr algn="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81%</a:t>
            </a:r>
            <a:endParaRPr lang="en-US" sz="900" dirty="0"/>
          </a:p>
        </p:txBody>
      </p:sp>
      <p:sp>
        <p:nvSpPr>
          <p:cNvPr id="17" name="Text 3"/>
          <p:cNvSpPr/>
          <p:nvPr/>
        </p:nvSpPr>
        <p:spPr>
          <a:xfrm>
            <a:off x="5630763" y="1916311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55.8% (Hozir)</a:t>
            </a:r>
            <a:endParaRPr lang="en-US" sz="900" dirty="0"/>
          </a:p>
        </p:txBody>
      </p:sp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2743200"/>
            <a:ext cx="209550" cy="219075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1066800" y="2735461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Iqlim maqsadlari</a:t>
            </a:r>
            <a:endParaRPr lang="en-US" sz="1100" dirty="0"/>
          </a:p>
        </p:txBody>
      </p:sp>
      <p:sp>
        <p:nvSpPr>
          <p:cNvPr id="20" name="Text 5"/>
          <p:cNvSpPr/>
          <p:nvPr/>
        </p:nvSpPr>
        <p:spPr>
          <a:xfrm>
            <a:off x="762000" y="31164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1" name="Text 6"/>
          <p:cNvSpPr/>
          <p:nvPr/>
        </p:nvSpPr>
        <p:spPr>
          <a:xfrm>
            <a:off x="885825" y="3116461"/>
            <a:ext cx="3025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GHG kamayish maqsadi: 2030-yilga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32% kamaytirish</a:t>
            </a:r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(1990-yilga nisbatan)</a:t>
            </a:r>
            <a:endParaRPr lang="en-US" sz="900" dirty="0"/>
          </a:p>
        </p:txBody>
      </p:sp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5325" y="2743200"/>
            <a:ext cx="219075" cy="219075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4825901" y="2735461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 boshqaruvi</a:t>
            </a:r>
            <a:endParaRPr lang="en-US" sz="1100" dirty="0"/>
          </a:p>
        </p:txBody>
      </p:sp>
      <p:sp>
        <p:nvSpPr>
          <p:cNvPr id="24" name="Text 8"/>
          <p:cNvSpPr/>
          <p:nvPr/>
        </p:nvSpPr>
        <p:spPr>
          <a:xfrm>
            <a:off x="4521101" y="31164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5" name="Text 9"/>
          <p:cNvSpPr/>
          <p:nvPr/>
        </p:nvSpPr>
        <p:spPr>
          <a:xfrm>
            <a:off x="4644926" y="3116461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Desalinatsiya: Dunyoda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5-o'rin</a:t>
            </a:r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770+ zavod</a:t>
            </a:r>
            <a:endParaRPr lang="en-US" sz="900" dirty="0"/>
          </a:p>
        </p:txBody>
      </p:sp>
      <p:sp>
        <p:nvSpPr>
          <p:cNvPr id="26" name="Text 10"/>
          <p:cNvSpPr/>
          <p:nvPr/>
        </p:nvSpPr>
        <p:spPr>
          <a:xfrm>
            <a:off x="4521101" y="34212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7" name="Text 11"/>
          <p:cNvSpPr/>
          <p:nvPr/>
        </p:nvSpPr>
        <p:spPr>
          <a:xfrm>
            <a:off x="4644926" y="3421261"/>
            <a:ext cx="3025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Suvni qayta ishlatish: EU yetakchisi — 400 hm³/yil</a:t>
            </a:r>
            <a:endParaRPr lang="en-US" sz="900" dirty="0"/>
          </a:p>
        </p:txBody>
      </p:sp>
      <p:sp>
        <p:nvSpPr>
          <p:cNvPr id="28" name="Text 12"/>
          <p:cNvSpPr/>
          <p:nvPr/>
        </p:nvSpPr>
        <p:spPr>
          <a:xfrm>
            <a:off x="4521101" y="39165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9" name="Text 13"/>
          <p:cNvSpPr/>
          <p:nvPr/>
        </p:nvSpPr>
        <p:spPr>
          <a:xfrm>
            <a:off x="4644926" y="3916561"/>
            <a:ext cx="3025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Royal Decree 1085/2024: Qayta ishlangan suvni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baravar</a:t>
            </a:r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oshirish</a:t>
            </a:r>
            <a:endParaRPr lang="en-US" sz="900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7700" y="2743200"/>
            <a:ext cx="152400" cy="219075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8518475" y="2735461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Investitsiyalar</a:t>
            </a:r>
            <a:endParaRPr lang="en-US" sz="1100" dirty="0"/>
          </a:p>
        </p:txBody>
      </p:sp>
      <p:sp>
        <p:nvSpPr>
          <p:cNvPr id="32" name="Text 15"/>
          <p:cNvSpPr/>
          <p:nvPr/>
        </p:nvSpPr>
        <p:spPr>
          <a:xfrm>
            <a:off x="8280350" y="31164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3" name="Text 16"/>
          <p:cNvSpPr/>
          <p:nvPr/>
        </p:nvSpPr>
        <p:spPr>
          <a:xfrm>
            <a:off x="8404175" y="3116461"/>
            <a:ext cx="3025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€1.1 mlrd</a:t>
            </a:r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NextGenerationEU fondlaridan suv resurslariga</a:t>
            </a:r>
            <a:endParaRPr lang="en-US" sz="900" dirty="0"/>
          </a:p>
        </p:txBody>
      </p:sp>
      <p:sp>
        <p:nvSpPr>
          <p:cNvPr id="34" name="Text 17"/>
          <p:cNvSpPr/>
          <p:nvPr/>
        </p:nvSpPr>
        <p:spPr>
          <a:xfrm>
            <a:off x="8280350" y="3611761"/>
            <a:ext cx="4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5" name="Text 18"/>
          <p:cNvSpPr/>
          <p:nvPr/>
        </p:nvSpPr>
        <p:spPr>
          <a:xfrm>
            <a:off x="8404175" y="3611761"/>
            <a:ext cx="3025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Uzoq muddatli ehtiyoj: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€10.4 mlrd/yil</a:t>
            </a:r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2035-yilgacha</a:t>
            </a:r>
            <a:endParaRPr lang="en-US" sz="900" dirty="0"/>
          </a:p>
        </p:txBody>
      </p:sp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625" y="5676900"/>
            <a:ext cx="304800" cy="247650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1257300" y="5705475"/>
            <a:ext cx="778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Shahar harakatchanligi:</a:t>
            </a:r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50,000+ aholili barcha shaharlarda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Barqaror Harakat Rejalari</a:t>
            </a:r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majburiy etib belgilangan.</a:t>
            </a:r>
            <a:endParaRPr lang="en-US" sz="900" dirty="0"/>
          </a:p>
        </p:txBody>
      </p:sp>
      <p:sp>
        <p:nvSpPr>
          <p:cNvPr id="38" name="Text 20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39" name="Text 21"/>
          <p:cNvSpPr/>
          <p:nvPr/>
        </p:nvSpPr>
        <p:spPr>
          <a:xfrm>
            <a:off x="114871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401175" y="7334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971550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619250"/>
            <a:ext cx="11134725" cy="1628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850" y="1857375"/>
            <a:ext cx="2686050" cy="1095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629025"/>
            <a:ext cx="3686175" cy="7143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8150" y="3629025"/>
            <a:ext cx="3695700" cy="714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3657600"/>
            <a:ext cx="3629025" cy="647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4772025"/>
            <a:ext cx="2695575" cy="990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2800" y="4772025"/>
            <a:ext cx="2695575" cy="990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3625" y="4772025"/>
            <a:ext cx="2695575" cy="990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4450" y="4772025"/>
            <a:ext cx="2695575" cy="990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381000"/>
            <a:ext cx="110490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OZBEKISTON Tizimi</a:t>
            </a:r>
            <a:endParaRPr lang="en-US" sz="3400" dirty="0"/>
          </a:p>
        </p:txBody>
      </p:sp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1257300"/>
            <a:ext cx="276225" cy="257175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942975" y="1249561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Tashkiliy tuzilma</a:t>
            </a:r>
            <a:endParaRPr lang="en-US" sz="1400" dirty="0"/>
          </a:p>
        </p:txBody>
      </p:sp>
      <p:pic>
        <p:nvPicPr>
          <p:cNvPr id="1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4900" y="2133600"/>
            <a:ext cx="266700" cy="314325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809625" y="2506861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</a:t>
            </a:r>
            <a:endParaRPr lang="en-US" sz="800" dirty="0"/>
          </a:p>
        </p:txBody>
      </p:sp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90750" y="2105025"/>
            <a:ext cx="1543050" cy="371475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2200275" y="2197298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Respublika</a:t>
            </a:r>
            <a:endParaRPr lang="en-US" sz="900" dirty="0"/>
          </a:p>
        </p:txBody>
      </p:sp>
      <p:sp>
        <p:nvSpPr>
          <p:cNvPr id="23" name="Text 4"/>
          <p:cNvSpPr/>
          <p:nvPr/>
        </p:nvSpPr>
        <p:spPr>
          <a:xfrm>
            <a:off x="2562225" y="2540198"/>
            <a:ext cx="800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Markaziy daraja</a:t>
            </a:r>
            <a:endParaRPr lang="en-US" sz="700" dirty="0"/>
          </a:p>
        </p:txBody>
      </p:sp>
      <p:pic>
        <p:nvPicPr>
          <p:cNvPr id="2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19550" y="2314575"/>
            <a:ext cx="114300" cy="180975"/>
          </a:xfrm>
          <a:prstGeom prst="rect">
            <a:avLst/>
          </a:prstGeom>
        </p:spPr>
      </p:pic>
      <p:pic>
        <p:nvPicPr>
          <p:cNvPr id="2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19600" y="2105025"/>
            <a:ext cx="1543050" cy="371475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4429125" y="2197298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Hududiy</a:t>
            </a:r>
            <a:endParaRPr lang="en-US" sz="900" dirty="0"/>
          </a:p>
        </p:txBody>
      </p:sp>
      <p:sp>
        <p:nvSpPr>
          <p:cNvPr id="27" name="Text 6"/>
          <p:cNvSpPr/>
          <p:nvPr/>
        </p:nvSpPr>
        <p:spPr>
          <a:xfrm>
            <a:off x="4810125" y="2540198"/>
            <a:ext cx="76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Viloyat/Shahar</a:t>
            </a:r>
            <a:endParaRPr lang="en-US" sz="700" dirty="0"/>
          </a:p>
        </p:txBody>
      </p:sp>
      <p:pic>
        <p:nvPicPr>
          <p:cNvPr id="2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2314575"/>
            <a:ext cx="114300" cy="180975"/>
          </a:xfrm>
          <a:prstGeom prst="rect">
            <a:avLst/>
          </a:prstGeom>
        </p:spPr>
      </p:pic>
      <p:pic>
        <p:nvPicPr>
          <p:cNvPr id="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8450" y="2105025"/>
            <a:ext cx="1543050" cy="371475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6657975" y="2197298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Ob'ekt</a:t>
            </a:r>
            <a:endParaRPr lang="en-US" sz="900" dirty="0"/>
          </a:p>
        </p:txBody>
      </p:sp>
      <p:sp>
        <p:nvSpPr>
          <p:cNvPr id="31" name="Text 8"/>
          <p:cNvSpPr/>
          <p:nvPr/>
        </p:nvSpPr>
        <p:spPr>
          <a:xfrm>
            <a:off x="6986588" y="2540198"/>
            <a:ext cx="866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Mahalliy/Korxona</a:t>
            </a:r>
            <a:endParaRPr lang="en-US" sz="700" dirty="0"/>
          </a:p>
        </p:txBody>
      </p:sp>
      <p:sp>
        <p:nvSpPr>
          <p:cNvPr id="32" name="Text 9"/>
          <p:cNvSpPr/>
          <p:nvPr/>
        </p:nvSpPr>
        <p:spPr>
          <a:xfrm>
            <a:off x="8953500" y="1868686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Markazlashgan model:</a:t>
            </a:r>
            <a:endParaRPr lang="en-US" sz="900" dirty="0"/>
          </a:p>
        </p:txBody>
      </p:sp>
      <p:sp>
        <p:nvSpPr>
          <p:cNvPr id="33" name="Text 10"/>
          <p:cNvSpPr/>
          <p:nvPr/>
        </p:nvSpPr>
        <p:spPr>
          <a:xfrm>
            <a:off x="8953500" y="2097286"/>
            <a:ext cx="2428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Barcha vakolatlar markaziy vazirlikda jamlangan</a:t>
            </a:r>
            <a:endParaRPr lang="en-US" sz="800" dirty="0"/>
          </a:p>
        </p:txBody>
      </p:sp>
      <p:sp>
        <p:nvSpPr>
          <p:cNvPr id="34" name="Text 11"/>
          <p:cNvSpPr/>
          <p:nvPr/>
        </p:nvSpPr>
        <p:spPr>
          <a:xfrm>
            <a:off x="8953500" y="2583061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FVV (MES) — 1996-yildan</a:t>
            </a:r>
            <a:endParaRPr lang="en-US" sz="700" dirty="0"/>
          </a:p>
        </p:txBody>
      </p:sp>
      <p:pic>
        <p:nvPicPr>
          <p:cNvPr id="3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43975" y="2600325"/>
            <a:ext cx="133350" cy="133350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8953500" y="2778323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FVDT (SSEPR) tizimi</a:t>
            </a:r>
            <a:endParaRPr lang="en-US" sz="700" dirty="0"/>
          </a:p>
        </p:txBody>
      </p:sp>
      <p:pic>
        <p:nvPicPr>
          <p:cNvPr id="3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43975" y="2790825"/>
            <a:ext cx="152400" cy="133350"/>
          </a:xfrm>
          <a:prstGeom prst="rect">
            <a:avLst/>
          </a:prstGeom>
        </p:spPr>
      </p:pic>
      <p:pic>
        <p:nvPicPr>
          <p:cNvPr id="3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1975" y="3295650"/>
            <a:ext cx="247650" cy="257175"/>
          </a:xfrm>
          <a:prstGeom prst="rect">
            <a:avLst/>
          </a:prstGeom>
        </p:spPr>
      </p:pic>
      <p:sp>
        <p:nvSpPr>
          <p:cNvPr id="39" name="Text 13"/>
          <p:cNvSpPr/>
          <p:nvPr/>
        </p:nvSpPr>
        <p:spPr>
          <a:xfrm>
            <a:off x="914400" y="3287911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Qonunchilik</a:t>
            </a:r>
            <a:endParaRPr lang="en-US" sz="1400" dirty="0"/>
          </a:p>
        </p:txBody>
      </p:sp>
      <p:pic>
        <p:nvPicPr>
          <p:cNvPr id="4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3819525"/>
            <a:ext cx="133350" cy="180975"/>
          </a:xfrm>
          <a:prstGeom prst="rect">
            <a:avLst/>
          </a:prstGeom>
        </p:spPr>
      </p:pic>
      <p:sp>
        <p:nvSpPr>
          <p:cNvPr id="41" name="Text 14"/>
          <p:cNvSpPr/>
          <p:nvPr/>
        </p:nvSpPr>
        <p:spPr>
          <a:xfrm>
            <a:off x="923925" y="3792736"/>
            <a:ext cx="31304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"Fuqarolarni himoya qilish to'g'risida"gi Qonun (2000)</a:t>
            </a:r>
            <a:endParaRPr lang="en-US" sz="800" dirty="0"/>
          </a:p>
        </p:txBody>
      </p:sp>
      <p:pic>
        <p:nvPicPr>
          <p:cNvPr id="4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00550" y="3819525"/>
            <a:ext cx="200025" cy="180975"/>
          </a:xfrm>
          <a:prstGeom prst="rect">
            <a:avLst/>
          </a:prstGeom>
        </p:spPr>
      </p:pic>
      <p:sp>
        <p:nvSpPr>
          <p:cNvPr id="43" name="Text 15"/>
          <p:cNvSpPr/>
          <p:nvPr/>
        </p:nvSpPr>
        <p:spPr>
          <a:xfrm>
            <a:off x="4702076" y="3792736"/>
            <a:ext cx="3073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"Aholi va hududlarni himoya qilish to'g'risida"gi Qonun</a:t>
            </a:r>
            <a:endParaRPr lang="en-US" sz="800" dirty="0"/>
          </a:p>
        </p:txBody>
      </p:sp>
      <p:sp>
        <p:nvSpPr>
          <p:cNvPr id="44" name="Text 16"/>
          <p:cNvSpPr/>
          <p:nvPr/>
        </p:nvSpPr>
        <p:spPr>
          <a:xfrm>
            <a:off x="8166050" y="3783211"/>
            <a:ext cx="33400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2017-2024 islohotlar:</a:t>
            </a:r>
            <a:endParaRPr lang="en-US" sz="800" dirty="0"/>
          </a:p>
        </p:txBody>
      </p:sp>
      <p:sp>
        <p:nvSpPr>
          <p:cNvPr id="45" name="Text 17"/>
          <p:cNvSpPr/>
          <p:nvPr/>
        </p:nvSpPr>
        <p:spPr>
          <a:xfrm>
            <a:off x="8166050" y="3973711"/>
            <a:ext cx="3340001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Yagona yong'in-qutqaruv tizimi, seysmik xavfsizlik choralari</a:t>
            </a:r>
            <a:endParaRPr lang="en-US" sz="700" dirty="0"/>
          </a:p>
        </p:txBody>
      </p:sp>
      <p:pic>
        <p:nvPicPr>
          <p:cNvPr id="4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1975" y="4410075"/>
            <a:ext cx="247650" cy="257175"/>
          </a:xfrm>
          <a:prstGeom prst="rect">
            <a:avLst/>
          </a:prstGeom>
        </p:spPr>
      </p:pic>
      <p:sp>
        <p:nvSpPr>
          <p:cNvPr id="47" name="Text 18"/>
          <p:cNvSpPr/>
          <p:nvPr/>
        </p:nvSpPr>
        <p:spPr>
          <a:xfrm>
            <a:off x="914400" y="4402336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Ekologik siyosat</a:t>
            </a:r>
            <a:endParaRPr lang="en-US" sz="1400" dirty="0"/>
          </a:p>
        </p:txBody>
      </p:sp>
      <p:pic>
        <p:nvPicPr>
          <p:cNvPr id="4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4953000"/>
            <a:ext cx="209550" cy="180975"/>
          </a:xfrm>
          <a:prstGeom prst="rect">
            <a:avLst/>
          </a:prstGeom>
        </p:spPr>
      </p:pic>
      <p:sp>
        <p:nvSpPr>
          <p:cNvPr id="49" name="Text 19"/>
          <p:cNvSpPr/>
          <p:nvPr/>
        </p:nvSpPr>
        <p:spPr>
          <a:xfrm>
            <a:off x="2752725" y="4907161"/>
            <a:ext cx="37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695325" y="5250061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GHG kamaytirish (2030)</a:t>
            </a:r>
            <a:endParaRPr lang="en-US" sz="700" dirty="0"/>
          </a:p>
        </p:txBody>
      </p:sp>
      <p:sp>
        <p:nvSpPr>
          <p:cNvPr id="51" name="Text 21"/>
          <p:cNvSpPr/>
          <p:nvPr/>
        </p:nvSpPr>
        <p:spPr>
          <a:xfrm>
            <a:off x="695325" y="548342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"O'zbekiston-2030" strategiyasi</a:t>
            </a:r>
            <a:endParaRPr lang="en-US" sz="700" dirty="0"/>
          </a:p>
        </p:txBody>
      </p:sp>
      <p:pic>
        <p:nvPicPr>
          <p:cNvPr id="5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76625" y="4953000"/>
            <a:ext cx="209550" cy="180975"/>
          </a:xfrm>
          <a:prstGeom prst="rect">
            <a:avLst/>
          </a:prstGeom>
        </p:spPr>
      </p:pic>
      <p:sp>
        <p:nvSpPr>
          <p:cNvPr id="53" name="Text 22"/>
          <p:cNvSpPr/>
          <p:nvPr/>
        </p:nvSpPr>
        <p:spPr>
          <a:xfrm>
            <a:off x="5524500" y="4907161"/>
            <a:ext cx="39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1200" dirty="0"/>
          </a:p>
        </p:txBody>
      </p:sp>
      <p:sp>
        <p:nvSpPr>
          <p:cNvPr id="54" name="Text 23"/>
          <p:cNvSpPr/>
          <p:nvPr/>
        </p:nvSpPr>
        <p:spPr>
          <a:xfrm>
            <a:off x="3486150" y="5250061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Qayta tiklanuvchi energiya</a:t>
            </a:r>
            <a:endParaRPr lang="en-US" sz="700" dirty="0"/>
          </a:p>
        </p:txBody>
      </p:sp>
      <p:sp>
        <p:nvSpPr>
          <p:cNvPr id="55" name="Text 24"/>
          <p:cNvSpPr/>
          <p:nvPr/>
        </p:nvSpPr>
        <p:spPr>
          <a:xfrm>
            <a:off x="3486150" y="548342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25,000 MV quvvat (2030)</a:t>
            </a:r>
            <a:endParaRPr lang="en-US" sz="700" dirty="0"/>
          </a:p>
        </p:txBody>
      </p:sp>
      <p:pic>
        <p:nvPicPr>
          <p:cNvPr id="5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67450" y="4953000"/>
            <a:ext cx="152400" cy="180975"/>
          </a:xfrm>
          <a:prstGeom prst="rect">
            <a:avLst/>
          </a:prstGeom>
        </p:spPr>
      </p:pic>
      <p:sp>
        <p:nvSpPr>
          <p:cNvPr id="57" name="Text 25"/>
          <p:cNvSpPr/>
          <p:nvPr/>
        </p:nvSpPr>
        <p:spPr>
          <a:xfrm>
            <a:off x="8172450" y="4907161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mlrd</a:t>
            </a:r>
            <a:endParaRPr lang="en-US" sz="1200" dirty="0"/>
          </a:p>
        </p:txBody>
      </p:sp>
      <p:sp>
        <p:nvSpPr>
          <p:cNvPr id="58" name="Text 26"/>
          <p:cNvSpPr/>
          <p:nvPr/>
        </p:nvSpPr>
        <p:spPr>
          <a:xfrm>
            <a:off x="6276975" y="5250061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"Yashil Makon" loyihasi</a:t>
            </a:r>
            <a:endParaRPr lang="en-US" sz="700" dirty="0"/>
          </a:p>
        </p:txBody>
      </p:sp>
      <p:sp>
        <p:nvSpPr>
          <p:cNvPr id="59" name="Text 27"/>
          <p:cNvSpPr/>
          <p:nvPr/>
        </p:nvSpPr>
        <p:spPr>
          <a:xfrm>
            <a:off x="6276975" y="548342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Daraxt ekish (2030-yilgacha)</a:t>
            </a:r>
            <a:endParaRPr lang="en-US" sz="700" dirty="0"/>
          </a:p>
        </p:txBody>
      </p:sp>
      <p:pic>
        <p:nvPicPr>
          <p:cNvPr id="6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58275" y="4953000"/>
            <a:ext cx="209550" cy="180975"/>
          </a:xfrm>
          <a:prstGeom prst="rect">
            <a:avLst/>
          </a:prstGeom>
        </p:spPr>
      </p:pic>
      <p:sp>
        <p:nvSpPr>
          <p:cNvPr id="61" name="Text 28"/>
          <p:cNvSpPr/>
          <p:nvPr/>
        </p:nvSpPr>
        <p:spPr>
          <a:xfrm>
            <a:off x="10848975" y="4907161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00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mlrd</a:t>
            </a:r>
            <a:endParaRPr lang="en-US" sz="1200" dirty="0"/>
          </a:p>
        </p:txBody>
      </p:sp>
      <p:sp>
        <p:nvSpPr>
          <p:cNvPr id="62" name="Text 29"/>
          <p:cNvSpPr/>
          <p:nvPr/>
        </p:nvSpPr>
        <p:spPr>
          <a:xfrm>
            <a:off x="9067800" y="5250061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 tanqisligi (m³)</a:t>
            </a:r>
            <a:endParaRPr lang="en-US" sz="700" dirty="0"/>
          </a:p>
        </p:txBody>
      </p:sp>
      <p:sp>
        <p:nvSpPr>
          <p:cNvPr id="63" name="Text 30"/>
          <p:cNvSpPr/>
          <p:nvPr/>
        </p:nvSpPr>
        <p:spPr>
          <a:xfrm>
            <a:off x="9067800" y="548342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Strategik xavf (2030)</a:t>
            </a:r>
            <a:endParaRPr lang="en-US" sz="700" dirty="0"/>
          </a:p>
        </p:txBody>
      </p:sp>
      <p:sp>
        <p:nvSpPr>
          <p:cNvPr id="64" name="Text 31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65" name="Text 32"/>
          <p:cNvSpPr/>
          <p:nvPr/>
        </p:nvSpPr>
        <p:spPr>
          <a:xfrm>
            <a:off x="11477625" y="63817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390650"/>
            <a:ext cx="11068050" cy="39909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775" y="1400175"/>
            <a:ext cx="4438650" cy="5905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50" y="1400175"/>
            <a:ext cx="4438650" cy="5905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71500" y="571500"/>
            <a:ext cx="110490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TAQQOSLASH Jadvali</a:t>
            </a:r>
            <a:endParaRPr lang="en-US" sz="3400" dirty="0"/>
          </a:p>
        </p:txBody>
      </p:sp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00175"/>
            <a:ext cx="2228850" cy="59055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733425" y="1563886"/>
            <a:ext cx="190113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1B3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Ko'rsatkich</a:t>
            </a:r>
            <a:endParaRPr lang="en-US" sz="1200" dirty="0"/>
          </a:p>
        </p:txBody>
      </p:sp>
      <p:sp>
        <p:nvSpPr>
          <p:cNvPr id="11" name="Text 2"/>
          <p:cNvSpPr/>
          <p:nvPr/>
        </p:nvSpPr>
        <p:spPr>
          <a:xfrm>
            <a:off x="3129855" y="1573411"/>
            <a:ext cx="781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</a:t>
            </a:r>
            <a:endParaRPr lang="en-US" sz="1200" dirty="0"/>
          </a:p>
        </p:txBody>
      </p:sp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4175" y="1609725"/>
            <a:ext cx="142875" cy="161925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7541716" y="1573411"/>
            <a:ext cx="1066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</a:t>
            </a:r>
            <a:endParaRPr lang="en-US" sz="1200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0" y="1609725"/>
            <a:ext cx="142875" cy="161925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962150"/>
            <a:ext cx="2228850" cy="447675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733425" y="2087761"/>
            <a:ext cx="190113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8FAF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Boshqaruv tizimi</a:t>
            </a:r>
            <a:endParaRPr lang="en-US" sz="900" dirty="0"/>
          </a:p>
        </p:txBody>
      </p:sp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1775" y="1962150"/>
            <a:ext cx="4438650" cy="447675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2939355" y="2087761"/>
            <a:ext cx="4107061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Markazlashgan-decentralizatsiyalashgan (3 daraja)</a:t>
            </a:r>
            <a:endParaRPr lang="en-US" sz="9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1850" y="1962150"/>
            <a:ext cx="4438650" cy="447675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7351216" y="2087761"/>
            <a:ext cx="4107359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Markazlashgan (FVV)</a:t>
            </a:r>
            <a:endParaRPr lang="en-US" sz="9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381250"/>
            <a:ext cx="2228850" cy="45720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733425" y="2512516"/>
            <a:ext cx="190113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1F5F9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Qonunchilik</a:t>
            </a:r>
            <a:endParaRPr lang="en-US" sz="900" dirty="0"/>
          </a:p>
        </p:txBody>
      </p:sp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1775" y="2381250"/>
            <a:ext cx="4438650" cy="45720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2939355" y="2512516"/>
            <a:ext cx="4107061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Law 17/2015, EU standartlari</a:t>
            </a:r>
            <a:endParaRPr lang="en-US" sz="900" dirty="0"/>
          </a:p>
        </p:txBody>
      </p:sp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1850" y="2381250"/>
            <a:ext cx="4438650" cy="45720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7351216" y="2512516"/>
            <a:ext cx="4107359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Fuqarolarni himoya qilish Qonuni (2000)</a:t>
            </a:r>
            <a:endParaRPr lang="en-US" sz="900" dirty="0"/>
          </a:p>
        </p:txBody>
      </p:sp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809875"/>
            <a:ext cx="2228850" cy="447675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733425" y="2937272"/>
            <a:ext cx="190113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8FAF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Ekologik siyosat</a:t>
            </a:r>
            <a:endParaRPr lang="en-US" sz="900" dirty="0"/>
          </a:p>
        </p:txBody>
      </p:sp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71775" y="2809875"/>
            <a:ext cx="4438650" cy="447675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2939355" y="2937272"/>
            <a:ext cx="4107061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PNIEC 2023-2030, EU Green Deal</a:t>
            </a:r>
            <a:endParaRPr lang="en-US" sz="900" dirty="0"/>
          </a:p>
        </p:txBody>
      </p:sp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81850" y="2809875"/>
            <a:ext cx="4438650" cy="447675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7351216" y="2937272"/>
            <a:ext cx="4107359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O'zbekiston-2030, Yashil Makon</a:t>
            </a:r>
            <a:endParaRPr lang="en-US" sz="900" dirty="0"/>
          </a:p>
        </p:txBody>
      </p:sp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228975"/>
            <a:ext cx="2228850" cy="45720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733425" y="3362027"/>
            <a:ext cx="190113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1F5F9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Aholi tayyorgarligi</a:t>
            </a:r>
            <a:endParaRPr lang="en-US" sz="900" dirty="0"/>
          </a:p>
        </p:txBody>
      </p:sp>
      <p:pic>
        <p:nvPicPr>
          <p:cNvPr id="3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71775" y="3228975"/>
            <a:ext cx="4438650" cy="457200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2939355" y="3362027"/>
            <a:ext cx="4107061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ES-Alert, 112, mashg'ulotlar</a:t>
            </a:r>
            <a:endParaRPr lang="en-US" sz="900" dirty="0"/>
          </a:p>
        </p:txBody>
      </p:sp>
      <p:pic>
        <p:nvPicPr>
          <p:cNvPr id="3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81850" y="3228975"/>
            <a:ext cx="4438650" cy="457200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7351216" y="3362027"/>
            <a:ext cx="4107359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Cheklangan, yangi standart O'zMSt 520:2025</a:t>
            </a:r>
            <a:endParaRPr lang="en-US" sz="900" dirty="0"/>
          </a:p>
        </p:txBody>
      </p:sp>
      <p:pic>
        <p:nvPicPr>
          <p:cNvPr id="3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657600"/>
            <a:ext cx="2228850" cy="457200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733425" y="3786783"/>
            <a:ext cx="190113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8FAF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Texnologiyalar</a:t>
            </a:r>
            <a:endParaRPr lang="en-US" sz="900" dirty="0"/>
          </a:p>
        </p:txBody>
      </p:sp>
      <p:pic>
        <p:nvPicPr>
          <p:cNvPr id="4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1775" y="3657600"/>
            <a:ext cx="4438650" cy="457200"/>
          </a:xfrm>
          <a:prstGeom prst="rect">
            <a:avLst/>
          </a:prstGeom>
        </p:spPr>
      </p:pic>
      <p:sp>
        <p:nvSpPr>
          <p:cNvPr id="42" name="Text 17"/>
          <p:cNvSpPr/>
          <p:nvPr/>
        </p:nvSpPr>
        <p:spPr>
          <a:xfrm>
            <a:off x="2939355" y="3786783"/>
            <a:ext cx="4107061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GIS, dron, sun'iy yo'ldosh, Cell Broadcast</a:t>
            </a:r>
            <a:endParaRPr lang="en-US" sz="900" dirty="0"/>
          </a:p>
        </p:txBody>
      </p:sp>
      <p:pic>
        <p:nvPicPr>
          <p:cNvPr id="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81850" y="3657600"/>
            <a:ext cx="4438650" cy="457200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7351216" y="3786783"/>
            <a:ext cx="4107359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GIS monitoring, Smart Water, MHEWS</a:t>
            </a:r>
            <a:endParaRPr lang="en-US" sz="900" dirty="0"/>
          </a:p>
        </p:txBody>
      </p:sp>
      <p:pic>
        <p:nvPicPr>
          <p:cNvPr id="4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4086225"/>
            <a:ext cx="2228850" cy="447675"/>
          </a:xfrm>
          <a:prstGeom prst="rect">
            <a:avLst/>
          </a:prstGeom>
        </p:spPr>
      </p:pic>
      <p:sp>
        <p:nvSpPr>
          <p:cNvPr id="46" name="Text 19"/>
          <p:cNvSpPr/>
          <p:nvPr/>
        </p:nvSpPr>
        <p:spPr>
          <a:xfrm>
            <a:off x="733425" y="4211538"/>
            <a:ext cx="190113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1F5F9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Ogohlantirish tizimi</a:t>
            </a:r>
            <a:endParaRPr lang="en-US" sz="900" dirty="0"/>
          </a:p>
        </p:txBody>
      </p:sp>
      <p:pic>
        <p:nvPicPr>
          <p:cNvPr id="4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71775" y="4086225"/>
            <a:ext cx="4438650" cy="447675"/>
          </a:xfrm>
          <a:prstGeom prst="rect">
            <a:avLst/>
          </a:prstGeom>
        </p:spPr>
      </p:pic>
      <p:sp>
        <p:nvSpPr>
          <p:cNvPr id="48" name="Text 20"/>
          <p:cNvSpPr/>
          <p:nvPr/>
        </p:nvSpPr>
        <p:spPr>
          <a:xfrm>
            <a:off x="2939355" y="4211538"/>
            <a:ext cx="4107061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 (Cell Broadcast), AEMET</a:t>
            </a:r>
            <a:endParaRPr lang="en-US" sz="900" dirty="0"/>
          </a:p>
        </p:txBody>
      </p:sp>
      <p:pic>
        <p:nvPicPr>
          <p:cNvPr id="4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81850" y="4086225"/>
            <a:ext cx="4438650" cy="447675"/>
          </a:xfrm>
          <a:prstGeom prst="rect">
            <a:avLst/>
          </a:prstGeom>
        </p:spPr>
      </p:pic>
      <p:sp>
        <p:nvSpPr>
          <p:cNvPr id="50" name="Text 21"/>
          <p:cNvSpPr/>
          <p:nvPr/>
        </p:nvSpPr>
        <p:spPr>
          <a:xfrm>
            <a:off x="7351216" y="4211538"/>
            <a:ext cx="4107359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Uzhydromet, yangi erta ogohlantirish</a:t>
            </a:r>
            <a:endParaRPr lang="en-US" sz="900" dirty="0"/>
          </a:p>
        </p:txBody>
      </p:sp>
      <p:pic>
        <p:nvPicPr>
          <p:cNvPr id="5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505325"/>
            <a:ext cx="2228850" cy="457200"/>
          </a:xfrm>
          <a:prstGeom prst="rect">
            <a:avLst/>
          </a:prstGeom>
        </p:spPr>
      </p:pic>
      <p:sp>
        <p:nvSpPr>
          <p:cNvPr id="52" name="Text 22"/>
          <p:cNvSpPr/>
          <p:nvPr/>
        </p:nvSpPr>
        <p:spPr>
          <a:xfrm>
            <a:off x="733425" y="4636294"/>
            <a:ext cx="1901130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8FAF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Favqulodda xizmatlar</a:t>
            </a:r>
            <a:endParaRPr lang="en-US" sz="900" dirty="0"/>
          </a:p>
        </p:txBody>
      </p:sp>
      <p:pic>
        <p:nvPicPr>
          <p:cNvPr id="5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71775" y="4505325"/>
            <a:ext cx="4438650" cy="457200"/>
          </a:xfrm>
          <a:prstGeom prst="rect">
            <a:avLst/>
          </a:prstGeom>
        </p:spPr>
      </p:pic>
      <p:sp>
        <p:nvSpPr>
          <p:cNvPr id="54" name="Text 23"/>
          <p:cNvSpPr/>
          <p:nvPr/>
        </p:nvSpPr>
        <p:spPr>
          <a:xfrm>
            <a:off x="2939355" y="4636294"/>
            <a:ext cx="4107061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112, UME, yong'in xizmati</a:t>
            </a:r>
            <a:endParaRPr lang="en-US" sz="900" dirty="0"/>
          </a:p>
        </p:txBody>
      </p:sp>
      <p:pic>
        <p:nvPicPr>
          <p:cNvPr id="5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81850" y="4505325"/>
            <a:ext cx="4438650" cy="457200"/>
          </a:xfrm>
          <a:prstGeom prst="rect">
            <a:avLst/>
          </a:prstGeom>
        </p:spPr>
      </p:pic>
      <p:sp>
        <p:nvSpPr>
          <p:cNvPr id="56" name="Text 24"/>
          <p:cNvSpPr/>
          <p:nvPr/>
        </p:nvSpPr>
        <p:spPr>
          <a:xfrm>
            <a:off x="7351216" y="4636294"/>
            <a:ext cx="4107359" cy="19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FVV, yong'in-qutqaruv (208 hudud)</a:t>
            </a:r>
            <a:endParaRPr lang="en-US" sz="900" dirty="0"/>
          </a:p>
        </p:txBody>
      </p:sp>
      <p:pic>
        <p:nvPicPr>
          <p:cNvPr id="5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4933950"/>
            <a:ext cx="2228850" cy="438150"/>
          </a:xfrm>
          <a:prstGeom prst="rect">
            <a:avLst/>
          </a:prstGeom>
        </p:spPr>
      </p:pic>
      <p:sp>
        <p:nvSpPr>
          <p:cNvPr id="58" name="Text 25"/>
          <p:cNvSpPr/>
          <p:nvPr/>
        </p:nvSpPr>
        <p:spPr>
          <a:xfrm>
            <a:off x="733425" y="5061049"/>
            <a:ext cx="19011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highlight>
                  <a:srgbClr val="F1F5F9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Moliyalashtirish</a:t>
            </a:r>
            <a:endParaRPr lang="en-US" sz="900" dirty="0"/>
          </a:p>
        </p:txBody>
      </p:sp>
      <p:pic>
        <p:nvPicPr>
          <p:cNvPr id="5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71775" y="4933950"/>
            <a:ext cx="4438650" cy="438150"/>
          </a:xfrm>
          <a:prstGeom prst="rect">
            <a:avLst/>
          </a:prstGeom>
        </p:spPr>
      </p:pic>
      <p:sp>
        <p:nvSpPr>
          <p:cNvPr id="60" name="Text 26"/>
          <p:cNvSpPr/>
          <p:nvPr/>
        </p:nvSpPr>
        <p:spPr>
          <a:xfrm>
            <a:off x="2939355" y="5061049"/>
            <a:ext cx="41070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EU fondlari, davlat byudjeti</a:t>
            </a:r>
            <a:endParaRPr lang="en-US" sz="900" dirty="0"/>
          </a:p>
        </p:txBody>
      </p:sp>
      <p:pic>
        <p:nvPicPr>
          <p:cNvPr id="6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81850" y="4933950"/>
            <a:ext cx="4438650" cy="438150"/>
          </a:xfrm>
          <a:prstGeom prst="rect">
            <a:avLst/>
          </a:prstGeom>
        </p:spPr>
      </p:pic>
      <p:sp>
        <p:nvSpPr>
          <p:cNvPr id="62" name="Text 27"/>
          <p:cNvSpPr/>
          <p:nvPr/>
        </p:nvSpPr>
        <p:spPr>
          <a:xfrm>
            <a:off x="7351216" y="5061049"/>
            <a:ext cx="41073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AFAF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Davlat byudjeti, xalqaro tashkilotlar</a:t>
            </a:r>
            <a:endParaRPr lang="en-US" sz="900" dirty="0"/>
          </a:p>
        </p:txBody>
      </p:sp>
      <p:sp>
        <p:nvSpPr>
          <p:cNvPr id="63" name="Text 28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64" name="Text 29"/>
          <p:cNvSpPr/>
          <p:nvPr/>
        </p:nvSpPr>
        <p:spPr>
          <a:xfrm>
            <a:off x="114871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314450"/>
            <a:ext cx="4962525" cy="20097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314450"/>
            <a:ext cx="4962525" cy="20097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905250"/>
            <a:ext cx="5391150" cy="4286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4381500"/>
            <a:ext cx="5391150" cy="4286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4857750"/>
            <a:ext cx="5391150" cy="4286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5334000"/>
            <a:ext cx="5391150" cy="4286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5810250"/>
            <a:ext cx="5391150" cy="4286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8875" y="3905250"/>
            <a:ext cx="539115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4448175"/>
            <a:ext cx="5391150" cy="4667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8875" y="5000625"/>
            <a:ext cx="539115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6362700"/>
            <a:ext cx="11068050" cy="3810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71500" y="571500"/>
            <a:ext cx="110490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TAQQOSLASH TAHLILI</a:t>
            </a:r>
            <a:endParaRPr lang="en-US" sz="3400" dirty="0"/>
          </a:p>
        </p:txBody>
      </p:sp>
      <p:sp>
        <p:nvSpPr>
          <p:cNvPr id="16" name="Text 1"/>
          <p:cNvSpPr/>
          <p:nvPr/>
        </p:nvSpPr>
        <p:spPr>
          <a:xfrm>
            <a:off x="1162050" y="1554361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 afzalliklari</a:t>
            </a:r>
            <a:endParaRPr lang="en-US" sz="1400" dirty="0"/>
          </a:p>
        </p:txBody>
      </p:sp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25" y="1581150"/>
            <a:ext cx="209550" cy="219075"/>
          </a:xfrm>
          <a:prstGeom prst="rect">
            <a:avLst/>
          </a:prstGeom>
        </p:spPr>
      </p:pic>
      <p:pic>
        <p:nvPicPr>
          <p:cNvPr id="1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2000250"/>
            <a:ext cx="152400" cy="161925"/>
          </a:xfrm>
          <a:prstGeom prst="rect">
            <a:avLst/>
          </a:prstGeom>
        </p:spPr>
      </p:pic>
      <p:sp>
        <p:nvSpPr>
          <p:cNvPr id="19" name="Text 2"/>
          <p:cNvSpPr/>
          <p:nvPr/>
        </p:nvSpPr>
        <p:spPr>
          <a:xfrm>
            <a:off x="1066800" y="1973461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Keng qonunchilik bazasi va EU standartlari</a:t>
            </a:r>
            <a:endParaRPr lang="en-US" sz="900" dirty="0"/>
          </a:p>
        </p:txBody>
      </p:sp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725" y="2305050"/>
            <a:ext cx="152400" cy="161925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1066800" y="2278261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Ilg'or texnologiyalar (ES-Alert, GIS, dron)</a:t>
            </a:r>
            <a:endParaRPr lang="en-US" sz="900" dirty="0"/>
          </a:p>
        </p:txBody>
      </p:sp>
      <p:pic>
        <p:nvPicPr>
          <p:cNvPr id="2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7725" y="2609850"/>
            <a:ext cx="152400" cy="161925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1066800" y="2583061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Xalqaro hamkorlik mexanizmlari (rescEU)</a:t>
            </a:r>
            <a:endParaRPr lang="en-US" sz="900" dirty="0"/>
          </a:p>
        </p:txBody>
      </p:sp>
      <p:pic>
        <p:nvPicPr>
          <p:cNvPr id="2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2914650"/>
            <a:ext cx="152400" cy="161925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1066800" y="2887861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Qayta tiklanuvchi energetikada yetakchi (55.8%)</a:t>
            </a:r>
            <a:endParaRPr lang="en-US" sz="900" dirty="0"/>
          </a:p>
        </p:txBody>
      </p:sp>
      <p:pic>
        <p:nvPicPr>
          <p:cNvPr id="2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2650" y="2190750"/>
            <a:ext cx="257175" cy="257175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7271891" y="1554361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 afzalliklari</a:t>
            </a:r>
            <a:endParaRPr lang="en-US" sz="1400" dirty="0"/>
          </a:p>
        </p:txBody>
      </p:sp>
      <p:pic>
        <p:nvPicPr>
          <p:cNvPr id="2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53250" y="1581150"/>
            <a:ext cx="219075" cy="219075"/>
          </a:xfrm>
          <a:prstGeom prst="rect">
            <a:avLst/>
          </a:prstGeom>
        </p:spPr>
      </p:pic>
      <p:pic>
        <p:nvPicPr>
          <p:cNvPr id="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3250" y="2000250"/>
            <a:ext cx="161925" cy="161925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7176641" y="1973461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Markazlashgan boshqaruv — tezkor qaror qabul qilish</a:t>
            </a:r>
            <a:endParaRPr lang="en-US" sz="900" dirty="0"/>
          </a:p>
        </p:txBody>
      </p:sp>
      <p:pic>
        <p:nvPicPr>
          <p:cNvPr id="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3250" y="2305050"/>
            <a:ext cx="161925" cy="161925"/>
          </a:xfrm>
          <a:prstGeom prst="rect">
            <a:avLst/>
          </a:prstGeom>
        </p:spPr>
      </p:pic>
      <p:sp>
        <p:nvSpPr>
          <p:cNvPr id="32" name="Text 8"/>
          <p:cNvSpPr/>
          <p:nvPr/>
        </p:nvSpPr>
        <p:spPr>
          <a:xfrm>
            <a:off x="7176641" y="2278261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Aral dengizi muammosi bo'yicha xalqaro e'tirof</a:t>
            </a:r>
            <a:endParaRPr lang="en-US" sz="900" dirty="0"/>
          </a:p>
        </p:txBody>
      </p:sp>
      <p:pic>
        <p:nvPicPr>
          <p:cNvPr id="3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53250" y="2609850"/>
            <a:ext cx="161925" cy="161925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7176641" y="2583061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"Yashil Makon" loyihasi — 1 mlrd daraxt</a:t>
            </a:r>
            <a:endParaRPr lang="en-US" sz="900" dirty="0"/>
          </a:p>
        </p:txBody>
      </p:sp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53250" y="2914650"/>
            <a:ext cx="161925" cy="161925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7176641" y="288786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Islohotlar tezligi (2017-2024 katta o'zgarishlar)</a:t>
            </a:r>
            <a:endParaRPr lang="en-US" sz="900" dirty="0"/>
          </a:p>
        </p:txBody>
      </p:sp>
      <p:sp>
        <p:nvSpPr>
          <p:cNvPr id="37" name="Text 11"/>
          <p:cNvSpPr/>
          <p:nvPr/>
        </p:nvSpPr>
        <p:spPr>
          <a:xfrm>
            <a:off x="819150" y="3545086"/>
            <a:ext cx="2381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 zaif tomonlari</a:t>
            </a:r>
            <a:endParaRPr lang="en-US" sz="1200" dirty="0"/>
          </a:p>
        </p:txBody>
      </p:sp>
      <p:pic>
        <p:nvPicPr>
          <p:cNvPr id="3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975" y="3571875"/>
            <a:ext cx="190500" cy="200025"/>
          </a:xfrm>
          <a:prstGeom prst="rect">
            <a:avLst/>
          </a:prstGeom>
        </p:spPr>
      </p:pic>
      <p:pic>
        <p:nvPicPr>
          <p:cNvPr id="3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" y="4029075"/>
            <a:ext cx="209550" cy="180975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1000125" y="4040386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Aholi tayyorgarligi past darajada</a:t>
            </a:r>
            <a:endParaRPr lang="en-US" sz="800" dirty="0"/>
          </a:p>
        </p:txBody>
      </p:sp>
      <p:pic>
        <p:nvPicPr>
          <p:cNvPr id="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4505325"/>
            <a:ext cx="190500" cy="180975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>
            <a:off x="981075" y="4516636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Erta ogohlantirish tizimi hali rivojlanmoqda</a:t>
            </a:r>
            <a:endParaRPr lang="en-US" sz="800" dirty="0"/>
          </a:p>
        </p:txBody>
      </p:sp>
      <p:pic>
        <p:nvPicPr>
          <p:cNvPr id="4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4981575"/>
            <a:ext cx="209550" cy="180975"/>
          </a:xfrm>
          <a:prstGeom prst="rect">
            <a:avLst/>
          </a:prstGeom>
        </p:spPr>
      </p:pic>
      <p:sp>
        <p:nvSpPr>
          <p:cNvPr id="44" name="Text 14"/>
          <p:cNvSpPr/>
          <p:nvPr/>
        </p:nvSpPr>
        <p:spPr>
          <a:xfrm>
            <a:off x="1000125" y="4992886"/>
            <a:ext cx="1628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Moliyalashtirish cheklangan</a:t>
            </a:r>
            <a:endParaRPr lang="en-US" sz="800" dirty="0"/>
          </a:p>
        </p:txBody>
      </p:sp>
      <p:pic>
        <p:nvPicPr>
          <p:cNvPr id="4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5457825"/>
            <a:ext cx="209550" cy="180975"/>
          </a:xfrm>
          <a:prstGeom prst="rect">
            <a:avLst/>
          </a:prstGeom>
        </p:spPr>
      </p:pic>
      <p:sp>
        <p:nvSpPr>
          <p:cNvPr id="46" name="Text 15"/>
          <p:cNvSpPr/>
          <p:nvPr/>
        </p:nvSpPr>
        <p:spPr>
          <a:xfrm>
            <a:off x="1000125" y="5469136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Qishloq joylarda infratuzilma zaif</a:t>
            </a:r>
            <a:endParaRPr lang="en-US" sz="800" dirty="0"/>
          </a:p>
        </p:txBody>
      </p:sp>
      <p:pic>
        <p:nvPicPr>
          <p:cNvPr id="4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5800" y="5934075"/>
            <a:ext cx="190500" cy="180975"/>
          </a:xfrm>
          <a:prstGeom prst="rect">
            <a:avLst/>
          </a:prstGeom>
        </p:spPr>
      </p:pic>
      <p:sp>
        <p:nvSpPr>
          <p:cNvPr id="48" name="Text 16"/>
          <p:cNvSpPr/>
          <p:nvPr/>
        </p:nvSpPr>
        <p:spPr>
          <a:xfrm>
            <a:off x="981075" y="5945386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Qonunchilik bazasi yangilanishga muhtoj</a:t>
            </a:r>
            <a:endParaRPr lang="en-US" sz="800" dirty="0"/>
          </a:p>
        </p:txBody>
      </p:sp>
      <p:sp>
        <p:nvSpPr>
          <p:cNvPr id="49" name="Text 17"/>
          <p:cNvSpPr/>
          <p:nvPr/>
        </p:nvSpPr>
        <p:spPr>
          <a:xfrm>
            <a:off x="6496050" y="3545086"/>
            <a:ext cx="1428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Statistik dalillar</a:t>
            </a:r>
            <a:endParaRPr lang="en-US" sz="1200" dirty="0"/>
          </a:p>
        </p:txBody>
      </p:sp>
      <p:pic>
        <p:nvPicPr>
          <p:cNvPr id="5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38875" y="3571875"/>
            <a:ext cx="190500" cy="200025"/>
          </a:xfrm>
          <a:prstGeom prst="rect">
            <a:avLst/>
          </a:prstGeom>
        </p:spPr>
      </p:pic>
      <p:sp>
        <p:nvSpPr>
          <p:cNvPr id="51" name="Text 18"/>
          <p:cNvSpPr/>
          <p:nvPr/>
        </p:nvSpPr>
        <p:spPr>
          <a:xfrm>
            <a:off x="6410325" y="4040386"/>
            <a:ext cx="5048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Ispaniya: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108 mamlakat ichida ko'p xavfli erta ogohlantirish tizimiga ega</a:t>
            </a:r>
            <a:endParaRPr lang="en-US" sz="900" dirty="0"/>
          </a:p>
        </p:txBody>
      </p:sp>
      <p:sp>
        <p:nvSpPr>
          <p:cNvPr id="52" name="Text 19"/>
          <p:cNvSpPr/>
          <p:nvPr/>
        </p:nvSpPr>
        <p:spPr>
          <a:xfrm>
            <a:off x="6410325" y="4588073"/>
            <a:ext cx="5048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O'zbekiston: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2025-yilda birinchi milliy erta ogohlantirish standartini qabul qildi</a:t>
            </a:r>
            <a:endParaRPr lang="en-US" sz="900" dirty="0"/>
          </a:p>
        </p:txBody>
      </p:sp>
      <p:sp>
        <p:nvSpPr>
          <p:cNvPr id="53" name="Text 20"/>
          <p:cNvSpPr/>
          <p:nvPr/>
        </p:nvSpPr>
        <p:spPr>
          <a:xfrm>
            <a:off x="6410325" y="5135761"/>
            <a:ext cx="5048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 suv yo'qotish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23.5%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 O'zbekiston 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36%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sug'orish tarmoqlaridan</a:t>
            </a:r>
            <a:endParaRPr lang="en-US" sz="900" dirty="0"/>
          </a:p>
        </p:txBody>
      </p:sp>
      <p:sp>
        <p:nvSpPr>
          <p:cNvPr id="54" name="Text 21"/>
          <p:cNvSpPr/>
          <p:nvPr/>
        </p:nvSpPr>
        <p:spPr>
          <a:xfrm>
            <a:off x="571500" y="6535936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55" name="Text 22"/>
          <p:cNvSpPr/>
          <p:nvPr/>
        </p:nvSpPr>
        <p:spPr>
          <a:xfrm>
            <a:off x="11487150" y="6535936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458325" y="123825"/>
            <a:ext cx="2228850" cy="22288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162050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504950"/>
            <a:ext cx="5457825" cy="10382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666875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2609850"/>
            <a:ext cx="5457825" cy="10382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771775"/>
            <a:ext cx="476250" cy="4857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3714750"/>
            <a:ext cx="5457825" cy="10382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876675"/>
            <a:ext cx="476250" cy="4857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4819650"/>
            <a:ext cx="5457825" cy="10382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981575"/>
            <a:ext cx="476250" cy="4857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875" y="1504950"/>
            <a:ext cx="5457825" cy="10382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666875"/>
            <a:ext cx="476250" cy="4857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75" y="2609850"/>
            <a:ext cx="5457825" cy="10382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771775"/>
            <a:ext cx="476250" cy="4857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8875" y="3714750"/>
            <a:ext cx="5457825" cy="10382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876675"/>
            <a:ext cx="476250" cy="4857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75" y="4819650"/>
            <a:ext cx="5457825" cy="103822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981575"/>
            <a:ext cx="476250" cy="48577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1500" y="571500"/>
            <a:ext cx="110490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TAKLIFLAR Amaliy tavsiyalar</a:t>
            </a:r>
            <a:endParaRPr lang="en-US" sz="3400" dirty="0"/>
          </a:p>
        </p:txBody>
      </p:sp>
      <p:pic>
        <p:nvPicPr>
          <p:cNvPr id="2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9150" y="1781175"/>
            <a:ext cx="285750" cy="257175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1343025" y="1678186"/>
            <a:ext cx="4438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Cell Broadcast texnologiyasini joriy etish</a:t>
            </a:r>
            <a:endParaRPr lang="en-US" sz="1200" dirty="0"/>
          </a:p>
        </p:txBody>
      </p:sp>
      <p:sp>
        <p:nvSpPr>
          <p:cNvPr id="26" name="Text 2"/>
          <p:cNvSpPr/>
          <p:nvPr/>
        </p:nvSpPr>
        <p:spPr>
          <a:xfrm>
            <a:off x="1343025" y="1973461"/>
            <a:ext cx="44386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ES-Alert tajribasidan foydalanib, O'zbekistonda ham xuddi shunday tizim yaratish</a:t>
            </a:r>
            <a:endParaRPr lang="en-US" sz="900" dirty="0"/>
          </a:p>
        </p:txBody>
      </p:sp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7725" y="2886075"/>
            <a:ext cx="228600" cy="257175"/>
          </a:xfrm>
          <a:prstGeom prst="rect">
            <a:avLst/>
          </a:prstGeom>
        </p:spPr>
      </p:pic>
      <p:sp>
        <p:nvSpPr>
          <p:cNvPr id="28" name="Text 3"/>
          <p:cNvSpPr/>
          <p:nvPr/>
        </p:nvSpPr>
        <p:spPr>
          <a:xfrm>
            <a:off x="1343025" y="2783086"/>
            <a:ext cx="4229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O'rmon yong'inlariga qarshi tizimni takomillashtirish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343025" y="3078361"/>
            <a:ext cx="4229100" cy="170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Ispaniyaning AEMET va dron monitoring tizimini o'rganish</a:t>
            </a:r>
            <a:endParaRPr lang="en-US" sz="900" dirty="0"/>
          </a:p>
        </p:txBody>
      </p:sp>
      <p:pic>
        <p:nvPicPr>
          <p:cNvPr id="3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6775" y="3990975"/>
            <a:ext cx="190500" cy="257175"/>
          </a:xfrm>
          <a:prstGeom prst="rect">
            <a:avLst/>
          </a:prstGeom>
        </p:spPr>
      </p:pic>
      <p:sp>
        <p:nvSpPr>
          <p:cNvPr id="31" name="Text 5"/>
          <p:cNvSpPr/>
          <p:nvPr/>
        </p:nvSpPr>
        <p:spPr>
          <a:xfrm>
            <a:off x="1343025" y="3887986"/>
            <a:ext cx="4438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Suv resurslarini boshqarishni modernizatsiya qilish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1343025" y="4183261"/>
            <a:ext cx="44386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Sug'orish kanallarini betonlash (5,000 km), Smart Water (11,400+), desalinatsiya va qayta ishlatish</a:t>
            </a:r>
            <a:endParaRPr lang="en-US" sz="900" dirty="0"/>
          </a:p>
        </p:txBody>
      </p:sp>
      <p:pic>
        <p:nvPicPr>
          <p:cNvPr id="3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8200" y="5095875"/>
            <a:ext cx="247650" cy="257175"/>
          </a:xfrm>
          <a:prstGeom prst="rect">
            <a:avLst/>
          </a:prstGeom>
        </p:spPr>
      </p:pic>
      <p:sp>
        <p:nvSpPr>
          <p:cNvPr id="34" name="Text 7"/>
          <p:cNvSpPr/>
          <p:nvPr/>
        </p:nvSpPr>
        <p:spPr>
          <a:xfrm>
            <a:off x="1343025" y="4992886"/>
            <a:ext cx="3219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Ekologik monitoringni kuchaytirish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1343025" y="5288161"/>
            <a:ext cx="3219450" cy="170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GIS va sun'iy yo'ldosh kuzatuvi tizimini to'liq joriy etish</a:t>
            </a:r>
            <a:endParaRPr lang="en-US" sz="900" dirty="0"/>
          </a:p>
        </p:txBody>
      </p:sp>
      <p:pic>
        <p:nvPicPr>
          <p:cNvPr id="3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1781175"/>
            <a:ext cx="247650" cy="257175"/>
          </a:xfrm>
          <a:prstGeom prst="rect">
            <a:avLst/>
          </a:prstGeom>
        </p:spPr>
      </p:pic>
      <p:sp>
        <p:nvSpPr>
          <p:cNvPr id="37" name="Text 9"/>
          <p:cNvSpPr/>
          <p:nvPr/>
        </p:nvSpPr>
        <p:spPr>
          <a:xfrm>
            <a:off x="7019925" y="1678186"/>
            <a:ext cx="4438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va raqamli texnologiyalar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7019925" y="1973461"/>
            <a:ext cx="44386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Ofatlarni bashorat qilish uchun sun'iy intellekt, avtomatik ogohlantirish, real-time monitoring</a:t>
            </a:r>
            <a:endParaRPr lang="en-US" sz="900" dirty="0"/>
          </a:p>
        </p:txBody>
      </p:sp>
      <p:pic>
        <p:nvPicPr>
          <p:cNvPr id="3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24625" y="2886075"/>
            <a:ext cx="228600" cy="257175"/>
          </a:xfrm>
          <a:prstGeom prst="rect">
            <a:avLst/>
          </a:prstGeom>
        </p:spPr>
      </p:pic>
      <p:sp>
        <p:nvSpPr>
          <p:cNvPr id="40" name="Text 11"/>
          <p:cNvSpPr/>
          <p:nvPr/>
        </p:nvSpPr>
        <p:spPr>
          <a:xfrm>
            <a:off x="7019925" y="2783086"/>
            <a:ext cx="4438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Aholi tayyorgarligini oshirish</a:t>
            </a:r>
            <a:endParaRPr lang="en-US" sz="1200" dirty="0"/>
          </a:p>
        </p:txBody>
      </p:sp>
      <p:sp>
        <p:nvSpPr>
          <p:cNvPr id="41" name="Text 12"/>
          <p:cNvSpPr/>
          <p:nvPr/>
        </p:nvSpPr>
        <p:spPr>
          <a:xfrm>
            <a:off x="7019925" y="3078361"/>
            <a:ext cx="44386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Maktab dasturlari, raqamli ta'lim platformalari, simulyatsiya va drill mashg'ulotlari</a:t>
            </a:r>
            <a:endParaRPr lang="en-US" sz="900" dirty="0"/>
          </a:p>
        </p:txBody>
      </p:sp>
      <p:pic>
        <p:nvPicPr>
          <p:cNvPr id="4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86525" y="3990975"/>
            <a:ext cx="304800" cy="257175"/>
          </a:xfrm>
          <a:prstGeom prst="rect">
            <a:avLst/>
          </a:prstGeom>
        </p:spPr>
      </p:pic>
      <p:sp>
        <p:nvSpPr>
          <p:cNvPr id="43" name="Text 13"/>
          <p:cNvSpPr/>
          <p:nvPr/>
        </p:nvSpPr>
        <p:spPr>
          <a:xfrm>
            <a:off x="7019925" y="3887986"/>
            <a:ext cx="4057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Xalqaro hamkorlikni kengaytirish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7019925" y="4183261"/>
            <a:ext cx="4057650" cy="170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Civil Protection Mechanism kabi mintaqaviy mexanizm yaratish</a:t>
            </a:r>
            <a:endParaRPr lang="en-US" sz="900" dirty="0"/>
          </a:p>
        </p:txBody>
      </p:sp>
      <p:pic>
        <p:nvPicPr>
          <p:cNvPr id="4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24625" y="5095875"/>
            <a:ext cx="228600" cy="257175"/>
          </a:xfrm>
          <a:prstGeom prst="rect">
            <a:avLst/>
          </a:prstGeom>
        </p:spPr>
      </p:pic>
      <p:sp>
        <p:nvSpPr>
          <p:cNvPr id="46" name="Text 15"/>
          <p:cNvSpPr/>
          <p:nvPr/>
        </p:nvSpPr>
        <p:spPr>
          <a:xfrm>
            <a:off x="7019925" y="4992886"/>
            <a:ext cx="2752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</a:t>
            </a:r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Qonunchilik bazasini yangilash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7019925" y="5288161"/>
            <a:ext cx="2752725" cy="170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Ispaniyaning Law 17/2015 tajribasini o'rganish</a:t>
            </a:r>
            <a:endParaRPr lang="en-US" sz="900" dirty="0"/>
          </a:p>
        </p:txBody>
      </p:sp>
      <p:sp>
        <p:nvSpPr>
          <p:cNvPr id="48" name="Text 17"/>
          <p:cNvSpPr/>
          <p:nvPr/>
        </p:nvSpPr>
        <p:spPr>
          <a:xfrm>
            <a:off x="571500" y="63817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49" name="Text 18"/>
          <p:cNvSpPr/>
          <p:nvPr/>
        </p:nvSpPr>
        <p:spPr>
          <a:xfrm>
            <a:off x="114871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9999">
            <a:off x="9401175" y="161925"/>
            <a:ext cx="1866900" cy="1866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9810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1247775"/>
            <a:ext cx="2209800" cy="8953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1247775"/>
            <a:ext cx="2209800" cy="8953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1247775"/>
            <a:ext cx="2209800" cy="895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150" y="1247775"/>
            <a:ext cx="2219325" cy="8953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5" y="1247775"/>
            <a:ext cx="2219325" cy="895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2286000"/>
            <a:ext cx="7696200" cy="1409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475" y="2286000"/>
            <a:ext cx="3352800" cy="1409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3895725"/>
            <a:ext cx="11325225" cy="10001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725" y="6343650"/>
            <a:ext cx="11258550" cy="3333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76250" y="476250"/>
            <a:ext cx="11239500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XULOSA Asosiy natijalar</a:t>
            </a:r>
            <a:endParaRPr lang="en-US" sz="3100" dirty="0"/>
          </a:p>
        </p:txBody>
      </p:sp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550" y="1409700"/>
            <a:ext cx="171450" cy="180975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847725" y="1386780"/>
            <a:ext cx="163056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Ispaniya tizimi institutsional va texnologik jihatdan rivojlangan ammo koordinatsiya muammolariga ega</a:t>
            </a:r>
            <a:endParaRPr lang="en-US" sz="800" dirty="0"/>
          </a:p>
        </p:txBody>
      </p:sp>
      <p:pic>
        <p:nvPicPr>
          <p:cNvPr id="1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67025" y="1409700"/>
            <a:ext cx="180975" cy="180975"/>
          </a:xfrm>
          <a:prstGeom prst="rect">
            <a:avLst/>
          </a:prstGeom>
        </p:spPr>
      </p:pic>
      <p:sp>
        <p:nvSpPr>
          <p:cNvPr id="19" name="Text 2"/>
          <p:cNvSpPr/>
          <p:nvPr/>
        </p:nvSpPr>
        <p:spPr>
          <a:xfrm>
            <a:off x="3125986" y="1386780"/>
            <a:ext cx="16307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2024-yil DANA fojiasi decentralizatsiyalashgan tizimning zaif tomonlarini ochib berdi</a:t>
            </a:r>
            <a:endParaRPr lang="en-US" sz="800" dirty="0"/>
          </a:p>
        </p:txBody>
      </p:sp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00" y="1409700"/>
            <a:ext cx="180975" cy="180975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5404396" y="1386780"/>
            <a:ext cx="163071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Ozbekiston markazlashgan tizimi tezkor qaror qabul qilish imkonini beradi ammo texnologik jihatdan orqada</a:t>
            </a:r>
            <a:endParaRPr lang="en-US" sz="800" dirty="0"/>
          </a:p>
        </p:txBody>
      </p:sp>
      <p:pic>
        <p:nvPicPr>
          <p:cNvPr id="2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9975" y="1409700"/>
            <a:ext cx="180975" cy="180975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7682805" y="1386780"/>
            <a:ext cx="16307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Ikkala davlat iqlim ozgarishining kuchayib borayotgan tasiriga duch kelmoqda</a:t>
            </a:r>
            <a:endParaRPr lang="en-US" sz="800" dirty="0"/>
          </a:p>
        </p:txBody>
      </p:sp>
      <p:pic>
        <p:nvPicPr>
          <p:cNvPr id="2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96450" y="1409700"/>
            <a:ext cx="180975" cy="180975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9961215" y="1386780"/>
            <a:ext cx="16305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Sendai Framework tamoyillari ikki davlat uchun ham muhim yo'naltiruvchi hujjat</a:t>
            </a:r>
            <a:endParaRPr lang="en-US" sz="800" dirty="0"/>
          </a:p>
        </p:txBody>
      </p:sp>
      <p:sp>
        <p:nvSpPr>
          <p:cNvPr id="26" name="Text 6"/>
          <p:cNvSpPr/>
          <p:nvPr/>
        </p:nvSpPr>
        <p:spPr>
          <a:xfrm>
            <a:off x="866775" y="2453580"/>
            <a:ext cx="1781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Tadqiqot xulosalari</a:t>
            </a:r>
            <a:endParaRPr lang="en-US" sz="1200" dirty="0"/>
          </a:p>
        </p:txBody>
      </p:sp>
      <p:pic>
        <p:nvPicPr>
          <p:cNvPr id="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" y="2476500"/>
            <a:ext cx="152400" cy="200025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657225" y="2825055"/>
            <a:ext cx="47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9" name="Text 8"/>
          <p:cNvSpPr/>
          <p:nvPr/>
        </p:nvSpPr>
        <p:spPr>
          <a:xfrm>
            <a:off x="781050" y="2825055"/>
            <a:ext cx="54483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 model — markazlashgan boshqaruv bilan mahalliy mustaqillikni uyg'unlashtirish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657225" y="3086993"/>
            <a:ext cx="47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1" name="Text 10"/>
          <p:cNvSpPr/>
          <p:nvPr/>
        </p:nvSpPr>
        <p:spPr>
          <a:xfrm>
            <a:off x="781050" y="3086993"/>
            <a:ext cx="49149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Texnologik innovatsiyalar samaradorlikni oshiradi ammo inson omili hal qiluvchi</a:t>
            </a:r>
            <a:endParaRPr lang="en-US" sz="900" dirty="0"/>
          </a:p>
        </p:txBody>
      </p:sp>
      <p:sp>
        <p:nvSpPr>
          <p:cNvPr id="32" name="Text 11"/>
          <p:cNvSpPr/>
          <p:nvPr/>
        </p:nvSpPr>
        <p:spPr>
          <a:xfrm>
            <a:off x="657225" y="3348930"/>
            <a:ext cx="47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3" name="Text 12"/>
          <p:cNvSpPr/>
          <p:nvPr/>
        </p:nvSpPr>
        <p:spPr>
          <a:xfrm>
            <a:off x="781050" y="3348930"/>
            <a:ext cx="43719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Aholi tayyorgarligi — eng kam etibor berilayotgan eng muhim yo'nalish</a:t>
            </a:r>
            <a:endParaRPr lang="en-US" sz="900" dirty="0"/>
          </a:p>
        </p:txBody>
      </p:sp>
      <p:sp>
        <p:nvSpPr>
          <p:cNvPr id="34" name="Text 13"/>
          <p:cNvSpPr/>
          <p:nvPr/>
        </p:nvSpPr>
        <p:spPr>
          <a:xfrm>
            <a:off x="8810625" y="2453580"/>
            <a:ext cx="1790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Kelajakdagi xavflar</a:t>
            </a:r>
            <a:endParaRPr lang="en-US" sz="1200" dirty="0"/>
          </a:p>
        </p:txBody>
      </p:sp>
      <p:pic>
        <p:nvPicPr>
          <p:cNvPr id="3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53450" y="2476500"/>
            <a:ext cx="190500" cy="200025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8763000" y="2825055"/>
            <a:ext cx="895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Iqlim ozgarishi</a:t>
            </a:r>
            <a:endParaRPr lang="en-US" sz="900" dirty="0"/>
          </a:p>
        </p:txBody>
      </p:sp>
      <p:pic>
        <p:nvPicPr>
          <p:cNvPr id="3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53450" y="2838450"/>
            <a:ext cx="142875" cy="152400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8791575" y="3086993"/>
            <a:ext cx="800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Suv tanqisligi</a:t>
            </a:r>
            <a:endParaRPr lang="en-US" sz="900" dirty="0"/>
          </a:p>
        </p:txBody>
      </p:sp>
      <p:pic>
        <p:nvPicPr>
          <p:cNvPr id="3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53450" y="3105150"/>
            <a:ext cx="171450" cy="152400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8791575" y="3348930"/>
            <a:ext cx="847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Shaharlashuv</a:t>
            </a:r>
            <a:endParaRPr lang="en-US" sz="900" dirty="0"/>
          </a:p>
        </p:txBody>
      </p:sp>
      <p:pic>
        <p:nvPicPr>
          <p:cNvPr id="4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53450" y="3362325"/>
            <a:ext cx="171450" cy="152400"/>
          </a:xfrm>
          <a:prstGeom prst="rect">
            <a:avLst/>
          </a:prstGeom>
        </p:spPr>
      </p:pic>
      <p:sp>
        <p:nvSpPr>
          <p:cNvPr id="42" name="Text 17"/>
          <p:cNvSpPr/>
          <p:nvPr/>
        </p:nvSpPr>
        <p:spPr>
          <a:xfrm>
            <a:off x="666750" y="4096643"/>
            <a:ext cx="1085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Ispaniya va Ozbekiston tizimlarini uyg'unlashtirgan holda har ikki davlat fuqarolarni himoya qilish darajasini oshirish mumkin</a:t>
            </a:r>
            <a:endParaRPr lang="en-US" sz="1200" dirty="0"/>
          </a:p>
        </p:txBody>
      </p:sp>
      <p:pic>
        <p:nvPicPr>
          <p:cNvPr id="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0600" y="4133850"/>
            <a:ext cx="238125" cy="200025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628650" y="4972943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Ley 17/2015, del Sistema Nacional de Protección Civil (Ispaniya)</a:t>
            </a:r>
            <a:endParaRPr lang="en-US" sz="700" dirty="0"/>
          </a:p>
        </p:txBody>
      </p:sp>
      <p:pic>
        <p:nvPicPr>
          <p:cNvPr id="4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6725" y="4981575"/>
            <a:ext cx="114300" cy="133350"/>
          </a:xfrm>
          <a:prstGeom prst="rect">
            <a:avLst/>
          </a:prstGeom>
        </p:spPr>
      </p:pic>
      <p:sp>
        <p:nvSpPr>
          <p:cNvPr id="46" name="Text 19"/>
          <p:cNvSpPr/>
          <p:nvPr/>
        </p:nvSpPr>
        <p:spPr>
          <a:xfrm>
            <a:off x="6400800" y="4972943"/>
            <a:ext cx="3876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UNDRR. (2015). Sendai Framework for Disaster Risk Reduction 2015-2030</a:t>
            </a:r>
            <a:endParaRPr lang="en-US" sz="700" dirty="0"/>
          </a:p>
        </p:txBody>
      </p:sp>
      <p:pic>
        <p:nvPicPr>
          <p:cNvPr id="4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38875" y="4981575"/>
            <a:ext cx="114300" cy="133350"/>
          </a:xfrm>
          <a:prstGeom prst="rect">
            <a:avLst/>
          </a:prstGeom>
        </p:spPr>
      </p:pic>
      <p:sp>
        <p:nvSpPr>
          <p:cNvPr id="48" name="Text 20"/>
          <p:cNvSpPr/>
          <p:nvPr/>
        </p:nvSpPr>
        <p:spPr>
          <a:xfrm>
            <a:off x="628650" y="5168205"/>
            <a:ext cx="4219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Ozbekiston Respublikasi. (2000). Fuqarolarni himoya qilish to'g'risidagi Qonun</a:t>
            </a:r>
            <a:endParaRPr lang="en-US" sz="700" dirty="0"/>
          </a:p>
        </p:txBody>
      </p:sp>
      <p:pic>
        <p:nvPicPr>
          <p:cNvPr id="4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6725" y="5181600"/>
            <a:ext cx="114300" cy="133350"/>
          </a:xfrm>
          <a:prstGeom prst="rect">
            <a:avLst/>
          </a:prstGeom>
        </p:spPr>
      </p:pic>
      <p:sp>
        <p:nvSpPr>
          <p:cNvPr id="50" name="Text 21"/>
          <p:cNvSpPr/>
          <p:nvPr/>
        </p:nvSpPr>
        <p:spPr>
          <a:xfrm>
            <a:off x="6400800" y="5168205"/>
            <a:ext cx="3581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Bank. (2024). Uzbekistan Water Sector Modernization Project</a:t>
            </a:r>
            <a:endParaRPr lang="en-US" sz="700" dirty="0"/>
          </a:p>
        </p:txBody>
      </p:sp>
      <p:pic>
        <p:nvPicPr>
          <p:cNvPr id="5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38875" y="5181600"/>
            <a:ext cx="114300" cy="133350"/>
          </a:xfrm>
          <a:prstGeom prst="rect">
            <a:avLst/>
          </a:prstGeom>
        </p:spPr>
      </p:pic>
      <p:sp>
        <p:nvSpPr>
          <p:cNvPr id="52" name="Text 22"/>
          <p:cNvSpPr/>
          <p:nvPr/>
        </p:nvSpPr>
        <p:spPr>
          <a:xfrm>
            <a:off x="476250" y="64770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53" name="Text 23"/>
          <p:cNvSpPr/>
          <p:nvPr/>
        </p:nvSpPr>
        <p:spPr>
          <a:xfrm>
            <a:off x="11582400" y="64770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0">
            <a:off x="0" y="219075"/>
            <a:ext cx="4819650" cy="2552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99999">
            <a:off x="6924675" y="1457325"/>
            <a:ext cx="5267325" cy="3486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7">
            <a:off x="895350" y="5238750"/>
            <a:ext cx="4876800" cy="16192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781300" y="1762125"/>
            <a:ext cx="6629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RAHMAT</a:t>
            </a:r>
            <a:endParaRPr lang="en-US" sz="11400" dirty="0"/>
          </a:p>
        </p:txBody>
      </p:sp>
      <p:sp>
        <p:nvSpPr>
          <p:cNvPr id="8" name="Text 1"/>
          <p:cNvSpPr/>
          <p:nvPr/>
        </p:nvSpPr>
        <p:spPr>
          <a:xfrm>
            <a:off x="2781300" y="3743325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Diqqatingiz uchun tashakkur</a:t>
            </a:r>
            <a:endParaRPr lang="en-US" sz="3400" dirty="0"/>
          </a:p>
        </p:txBody>
      </p:sp>
      <p:sp>
        <p:nvSpPr>
          <p:cNvPr id="9" name="Text 2"/>
          <p:cNvSpPr/>
          <p:nvPr/>
        </p:nvSpPr>
        <p:spPr>
          <a:xfrm>
            <a:off x="2781300" y="4581525"/>
            <a:ext cx="6629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Savollar?</a:t>
            </a:r>
            <a:endParaRPr lang="en-US" sz="2500" dirty="0"/>
          </a:p>
        </p:txBody>
      </p:sp>
      <p:sp>
        <p:nvSpPr>
          <p:cNvPr id="10" name="Text 3"/>
          <p:cNvSpPr/>
          <p:nvPr/>
        </p:nvSpPr>
        <p:spPr>
          <a:xfrm>
            <a:off x="762000" y="62865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Akademik ilmiy prezentatsiya — 2026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11306175" y="628650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2026-05-18T10:45:25Z</dcterms:created>
  <dcterms:modified xsi:type="dcterms:W3CDTF">2026-05-18T10:45:25Z</dcterms:modified>
</cp:coreProperties>
</file>